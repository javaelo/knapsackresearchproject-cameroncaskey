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1B300C-EE58-1559-1CE4-71018DC33A05}" v="2" dt="2025-12-05T17:07:48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el, Vraj (vrpatel42)" userId="S::vrpatel42@tntech.edu::a0fdb839-a29c-40b5-9b0e-159f8c8b54b9" providerId="AD" clId="Web-{FD1B300C-EE58-1559-1CE4-71018DC33A05}"/>
    <pc:docChg chg="addSld delSld">
      <pc:chgData name="Patel, Vraj (vrpatel42)" userId="S::vrpatel42@tntech.edu::a0fdb839-a29c-40b5-9b0e-159f8c8b54b9" providerId="AD" clId="Web-{FD1B300C-EE58-1559-1CE4-71018DC33A05}" dt="2025-12-05T17:07:48.706" v="1"/>
      <pc:docMkLst>
        <pc:docMk/>
      </pc:docMkLst>
      <pc:sldChg chg="new del">
        <pc:chgData name="Patel, Vraj (vrpatel42)" userId="S::vrpatel42@tntech.edu::a0fdb839-a29c-40b5-9b0e-159f8c8b54b9" providerId="AD" clId="Web-{FD1B300C-EE58-1559-1CE4-71018DC33A05}" dt="2025-12-05T17:07:48.706" v="1"/>
        <pc:sldMkLst>
          <pc:docMk/>
          <pc:sldMk cId="25127722" sldId="26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87CB19-4C33-48D8-B89A-C8C34D6512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2D258C-5E37-4759-80DB-303A46E504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Choose the best set of pieces for a board-game prototype while staying under a fixed budget</a:t>
          </a:r>
        </a:p>
      </dgm:t>
    </dgm:pt>
    <dgm:pt modelId="{DA5E3682-031A-4C89-9870-48EC2F46723E}" type="parTrans" cxnId="{457F44B5-45B4-4CEE-A94C-714C5AE6EA56}">
      <dgm:prSet/>
      <dgm:spPr/>
      <dgm:t>
        <a:bodyPr/>
        <a:lstStyle/>
        <a:p>
          <a:endParaRPr lang="en-US"/>
        </a:p>
      </dgm:t>
    </dgm:pt>
    <dgm:pt modelId="{4B64E755-75D8-4894-84E2-0D5CB3FC4C97}" type="sibTrans" cxnId="{457F44B5-45B4-4CEE-A94C-714C5AE6EA56}">
      <dgm:prSet/>
      <dgm:spPr/>
      <dgm:t>
        <a:bodyPr/>
        <a:lstStyle/>
        <a:p>
          <a:endParaRPr lang="en-US"/>
        </a:p>
      </dgm:t>
    </dgm:pt>
    <dgm:pt modelId="{10BDA018-4D65-42D8-A801-6918AE5A571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900"/>
            <a:t>Each piece has a cost and </a:t>
          </a:r>
          <a:r>
            <a:rPr lang="en-US" sz="1900" b="1"/>
            <a:t>interestingness value</a:t>
          </a:r>
          <a:r>
            <a:rPr lang="en-US" sz="1900"/>
            <a:t>; goal is to spend the money wisely while getting the most "fun" possible</a:t>
          </a:r>
        </a:p>
      </dgm:t>
    </dgm:pt>
    <dgm:pt modelId="{1AB2C6A1-7E04-4090-BF03-7104CD571CC7}" type="parTrans" cxnId="{1FE918D5-C19B-4586-8691-AC1A44F9C359}">
      <dgm:prSet/>
      <dgm:spPr/>
      <dgm:t>
        <a:bodyPr/>
        <a:lstStyle/>
        <a:p>
          <a:endParaRPr lang="en-US"/>
        </a:p>
      </dgm:t>
    </dgm:pt>
    <dgm:pt modelId="{235601AE-E39D-4B8A-9AC3-66E5AC7CD1B2}" type="sibTrans" cxnId="{1FE918D5-C19B-4586-8691-AC1A44F9C359}">
      <dgm:prSet/>
      <dgm:spPr/>
      <dgm:t>
        <a:bodyPr/>
        <a:lstStyle/>
        <a:p>
          <a:endParaRPr lang="en-US"/>
        </a:p>
      </dgm:t>
    </dgm:pt>
    <dgm:pt modelId="{A0A5DA8B-2E90-4826-8F80-F14B1D982BF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The 3 ways we compared to solve it: </a:t>
          </a:r>
          <a:r>
            <a:rPr lang="en-US" sz="1800" b="1"/>
            <a:t>Brute force, Top-down dynamic, Greedy</a:t>
          </a:r>
          <a:r>
            <a:rPr lang="en-US" sz="1800"/>
            <a:t>. We chose these 3 because of their difference in speed and accuracy</a:t>
          </a:r>
        </a:p>
      </dgm:t>
    </dgm:pt>
    <dgm:pt modelId="{9CCE2217-8BA0-4E6E-8A5C-355D4EB77A48}" type="parTrans" cxnId="{B06112A9-1714-4190-BAE1-741CC058DDE2}">
      <dgm:prSet/>
      <dgm:spPr/>
      <dgm:t>
        <a:bodyPr/>
        <a:lstStyle/>
        <a:p>
          <a:endParaRPr lang="en-US"/>
        </a:p>
      </dgm:t>
    </dgm:pt>
    <dgm:pt modelId="{E2E8971A-DE06-4909-AB2C-608087B46C02}" type="sibTrans" cxnId="{B06112A9-1714-4190-BAE1-741CC058DDE2}">
      <dgm:prSet/>
      <dgm:spPr/>
      <dgm:t>
        <a:bodyPr/>
        <a:lstStyle/>
        <a:p>
          <a:endParaRPr lang="en-US"/>
        </a:p>
      </dgm:t>
    </dgm:pt>
    <dgm:pt modelId="{B64FDFB7-7195-4A53-8EF6-1359BC279D99}" type="pres">
      <dgm:prSet presAssocID="{1687CB19-4C33-48D8-B89A-C8C34D6512E6}" presName="root" presStyleCnt="0">
        <dgm:presLayoutVars>
          <dgm:dir/>
          <dgm:resizeHandles val="exact"/>
        </dgm:presLayoutVars>
      </dgm:prSet>
      <dgm:spPr/>
    </dgm:pt>
    <dgm:pt modelId="{7B7F637E-1E85-46D2-A9FD-BC56A16AEF71}" type="pres">
      <dgm:prSet presAssocID="{7E2D258C-5E37-4759-80DB-303A46E50442}" presName="compNode" presStyleCnt="0"/>
      <dgm:spPr/>
    </dgm:pt>
    <dgm:pt modelId="{6BAC7B8F-6B27-42FE-ACB2-BA4DF9D346B8}" type="pres">
      <dgm:prSet presAssocID="{7E2D258C-5E37-4759-80DB-303A46E50442}" presName="bgRect" presStyleLbl="bgShp" presStyleIdx="0" presStyleCnt="3"/>
      <dgm:spPr/>
    </dgm:pt>
    <dgm:pt modelId="{377C7E8F-E7F6-4167-A9D3-627A16800B5B}" type="pres">
      <dgm:prSet presAssocID="{7E2D258C-5E37-4759-80DB-303A46E5044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38448066-6D7C-4879-9A71-0CC93420E465}" type="pres">
      <dgm:prSet presAssocID="{7E2D258C-5E37-4759-80DB-303A46E50442}" presName="spaceRect" presStyleCnt="0"/>
      <dgm:spPr/>
    </dgm:pt>
    <dgm:pt modelId="{B93592EC-DC6D-455C-BC1A-D48AEF5CC106}" type="pres">
      <dgm:prSet presAssocID="{7E2D258C-5E37-4759-80DB-303A46E50442}" presName="parTx" presStyleLbl="revTx" presStyleIdx="0" presStyleCnt="3">
        <dgm:presLayoutVars>
          <dgm:chMax val="0"/>
          <dgm:chPref val="0"/>
        </dgm:presLayoutVars>
      </dgm:prSet>
      <dgm:spPr/>
    </dgm:pt>
    <dgm:pt modelId="{F1E8FFF2-9BEF-4653-A213-01CF38BF203B}" type="pres">
      <dgm:prSet presAssocID="{4B64E755-75D8-4894-84E2-0D5CB3FC4C97}" presName="sibTrans" presStyleCnt="0"/>
      <dgm:spPr/>
    </dgm:pt>
    <dgm:pt modelId="{1FC68ABE-C008-4496-A12D-289BF3DA2492}" type="pres">
      <dgm:prSet presAssocID="{10BDA018-4D65-42D8-A801-6918AE5A5714}" presName="compNode" presStyleCnt="0"/>
      <dgm:spPr/>
    </dgm:pt>
    <dgm:pt modelId="{1AF1D281-E1C2-4F5C-BD6C-5B682F25222C}" type="pres">
      <dgm:prSet presAssocID="{10BDA018-4D65-42D8-A801-6918AE5A5714}" presName="bgRect" presStyleLbl="bgShp" presStyleIdx="1" presStyleCnt="3"/>
      <dgm:spPr/>
    </dgm:pt>
    <dgm:pt modelId="{F462F3AC-CC89-45A2-9CC5-C07190B6B576}" type="pres">
      <dgm:prSet presAssocID="{10BDA018-4D65-42D8-A801-6918AE5A571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16AB037-19BF-4A75-A54E-45D53AB11F4F}" type="pres">
      <dgm:prSet presAssocID="{10BDA018-4D65-42D8-A801-6918AE5A5714}" presName="spaceRect" presStyleCnt="0"/>
      <dgm:spPr/>
    </dgm:pt>
    <dgm:pt modelId="{0DC1D7CA-2CF2-4541-8507-10B140FA445B}" type="pres">
      <dgm:prSet presAssocID="{10BDA018-4D65-42D8-A801-6918AE5A5714}" presName="parTx" presStyleLbl="revTx" presStyleIdx="1" presStyleCnt="3">
        <dgm:presLayoutVars>
          <dgm:chMax val="0"/>
          <dgm:chPref val="0"/>
        </dgm:presLayoutVars>
      </dgm:prSet>
      <dgm:spPr/>
    </dgm:pt>
    <dgm:pt modelId="{19EFDB1F-628C-43E6-91A2-318FD7D9AEB6}" type="pres">
      <dgm:prSet presAssocID="{235601AE-E39D-4B8A-9AC3-66E5AC7CD1B2}" presName="sibTrans" presStyleCnt="0"/>
      <dgm:spPr/>
    </dgm:pt>
    <dgm:pt modelId="{92CF8C9E-2601-4996-BCBD-0FD4A25CF785}" type="pres">
      <dgm:prSet presAssocID="{A0A5DA8B-2E90-4826-8F80-F14B1D982BFB}" presName="compNode" presStyleCnt="0"/>
      <dgm:spPr/>
    </dgm:pt>
    <dgm:pt modelId="{FFEB2DDB-E09C-4F1F-BE82-1E51EEF85618}" type="pres">
      <dgm:prSet presAssocID="{A0A5DA8B-2E90-4826-8F80-F14B1D982BFB}" presName="bgRect" presStyleLbl="bgShp" presStyleIdx="2" presStyleCnt="3" custLinFactNeighborX="1796" custLinFactNeighborY="4923"/>
      <dgm:spPr/>
    </dgm:pt>
    <dgm:pt modelId="{35E48299-213F-4627-98D6-BF7990761443}" type="pres">
      <dgm:prSet presAssocID="{A0A5DA8B-2E90-4826-8F80-F14B1D982BF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FD4AE6E3-BB19-453C-9A19-38D06CF105B7}" type="pres">
      <dgm:prSet presAssocID="{A0A5DA8B-2E90-4826-8F80-F14B1D982BFB}" presName="spaceRect" presStyleCnt="0"/>
      <dgm:spPr/>
    </dgm:pt>
    <dgm:pt modelId="{51078F81-87BF-4E4D-B23B-95C1C8FD4934}" type="pres">
      <dgm:prSet presAssocID="{A0A5DA8B-2E90-4826-8F80-F14B1D982BF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9326D6A-218F-4146-BE99-7C27D61F83F2}" type="presOf" srcId="{10BDA018-4D65-42D8-A801-6918AE5A5714}" destId="{0DC1D7CA-2CF2-4541-8507-10B140FA445B}" srcOrd="0" destOrd="0" presId="urn:microsoft.com/office/officeart/2018/2/layout/IconVerticalSolidList"/>
    <dgm:cxn modelId="{28392380-FD66-4260-AC19-1CB5E0A5742A}" type="presOf" srcId="{7E2D258C-5E37-4759-80DB-303A46E50442}" destId="{B93592EC-DC6D-455C-BC1A-D48AEF5CC106}" srcOrd="0" destOrd="0" presId="urn:microsoft.com/office/officeart/2018/2/layout/IconVerticalSolidList"/>
    <dgm:cxn modelId="{D544E78E-9FCD-44D2-8979-3F2CF57DA4F7}" type="presOf" srcId="{1687CB19-4C33-48D8-B89A-C8C34D6512E6}" destId="{B64FDFB7-7195-4A53-8EF6-1359BC279D99}" srcOrd="0" destOrd="0" presId="urn:microsoft.com/office/officeart/2018/2/layout/IconVerticalSolidList"/>
    <dgm:cxn modelId="{B06112A9-1714-4190-BAE1-741CC058DDE2}" srcId="{1687CB19-4C33-48D8-B89A-C8C34D6512E6}" destId="{A0A5DA8B-2E90-4826-8F80-F14B1D982BFB}" srcOrd="2" destOrd="0" parTransId="{9CCE2217-8BA0-4E6E-8A5C-355D4EB77A48}" sibTransId="{E2E8971A-DE06-4909-AB2C-608087B46C02}"/>
    <dgm:cxn modelId="{457F44B5-45B4-4CEE-A94C-714C5AE6EA56}" srcId="{1687CB19-4C33-48D8-B89A-C8C34D6512E6}" destId="{7E2D258C-5E37-4759-80DB-303A46E50442}" srcOrd="0" destOrd="0" parTransId="{DA5E3682-031A-4C89-9870-48EC2F46723E}" sibTransId="{4B64E755-75D8-4894-84E2-0D5CB3FC4C97}"/>
    <dgm:cxn modelId="{1FE918D5-C19B-4586-8691-AC1A44F9C359}" srcId="{1687CB19-4C33-48D8-B89A-C8C34D6512E6}" destId="{10BDA018-4D65-42D8-A801-6918AE5A5714}" srcOrd="1" destOrd="0" parTransId="{1AB2C6A1-7E04-4090-BF03-7104CD571CC7}" sibTransId="{235601AE-E39D-4B8A-9AC3-66E5AC7CD1B2}"/>
    <dgm:cxn modelId="{28FCE9FF-0689-4E3B-9964-741CFEED69DC}" type="presOf" srcId="{A0A5DA8B-2E90-4826-8F80-F14B1D982BFB}" destId="{51078F81-87BF-4E4D-B23B-95C1C8FD4934}" srcOrd="0" destOrd="0" presId="urn:microsoft.com/office/officeart/2018/2/layout/IconVerticalSolidList"/>
    <dgm:cxn modelId="{6831B5CA-8A94-4260-8E6C-251BE6A512A0}" type="presParOf" srcId="{B64FDFB7-7195-4A53-8EF6-1359BC279D99}" destId="{7B7F637E-1E85-46D2-A9FD-BC56A16AEF71}" srcOrd="0" destOrd="0" presId="urn:microsoft.com/office/officeart/2018/2/layout/IconVerticalSolidList"/>
    <dgm:cxn modelId="{59905905-6D87-41D0-814F-C374282A4774}" type="presParOf" srcId="{7B7F637E-1E85-46D2-A9FD-BC56A16AEF71}" destId="{6BAC7B8F-6B27-42FE-ACB2-BA4DF9D346B8}" srcOrd="0" destOrd="0" presId="urn:microsoft.com/office/officeart/2018/2/layout/IconVerticalSolidList"/>
    <dgm:cxn modelId="{EB03E367-AF1D-40A0-B277-765B162FC444}" type="presParOf" srcId="{7B7F637E-1E85-46D2-A9FD-BC56A16AEF71}" destId="{377C7E8F-E7F6-4167-A9D3-627A16800B5B}" srcOrd="1" destOrd="0" presId="urn:microsoft.com/office/officeart/2018/2/layout/IconVerticalSolidList"/>
    <dgm:cxn modelId="{30477D66-B7CE-49CD-B5AC-C8229B2873E1}" type="presParOf" srcId="{7B7F637E-1E85-46D2-A9FD-BC56A16AEF71}" destId="{38448066-6D7C-4879-9A71-0CC93420E465}" srcOrd="2" destOrd="0" presId="urn:microsoft.com/office/officeart/2018/2/layout/IconVerticalSolidList"/>
    <dgm:cxn modelId="{6462334C-513C-4118-801C-181133654FCB}" type="presParOf" srcId="{7B7F637E-1E85-46D2-A9FD-BC56A16AEF71}" destId="{B93592EC-DC6D-455C-BC1A-D48AEF5CC106}" srcOrd="3" destOrd="0" presId="urn:microsoft.com/office/officeart/2018/2/layout/IconVerticalSolidList"/>
    <dgm:cxn modelId="{901FDF12-35E3-4ACA-A69B-9FB8B853B1AB}" type="presParOf" srcId="{B64FDFB7-7195-4A53-8EF6-1359BC279D99}" destId="{F1E8FFF2-9BEF-4653-A213-01CF38BF203B}" srcOrd="1" destOrd="0" presId="urn:microsoft.com/office/officeart/2018/2/layout/IconVerticalSolidList"/>
    <dgm:cxn modelId="{D894DB9A-75D8-4517-9E18-0D2DF9BA353F}" type="presParOf" srcId="{B64FDFB7-7195-4A53-8EF6-1359BC279D99}" destId="{1FC68ABE-C008-4496-A12D-289BF3DA2492}" srcOrd="2" destOrd="0" presId="urn:microsoft.com/office/officeart/2018/2/layout/IconVerticalSolidList"/>
    <dgm:cxn modelId="{44EC894F-F4A9-419C-82C9-BC1C25AE99BA}" type="presParOf" srcId="{1FC68ABE-C008-4496-A12D-289BF3DA2492}" destId="{1AF1D281-E1C2-4F5C-BD6C-5B682F25222C}" srcOrd="0" destOrd="0" presId="urn:microsoft.com/office/officeart/2018/2/layout/IconVerticalSolidList"/>
    <dgm:cxn modelId="{13B0CF3E-DA61-4AEE-A1DD-7ED26AC70415}" type="presParOf" srcId="{1FC68ABE-C008-4496-A12D-289BF3DA2492}" destId="{F462F3AC-CC89-45A2-9CC5-C07190B6B576}" srcOrd="1" destOrd="0" presId="urn:microsoft.com/office/officeart/2018/2/layout/IconVerticalSolidList"/>
    <dgm:cxn modelId="{9F76FA03-2DDB-42DF-B1D5-90CE69396660}" type="presParOf" srcId="{1FC68ABE-C008-4496-A12D-289BF3DA2492}" destId="{F16AB037-19BF-4A75-A54E-45D53AB11F4F}" srcOrd="2" destOrd="0" presId="urn:microsoft.com/office/officeart/2018/2/layout/IconVerticalSolidList"/>
    <dgm:cxn modelId="{F5F97EC6-A160-43F0-B157-BB260CC1A486}" type="presParOf" srcId="{1FC68ABE-C008-4496-A12D-289BF3DA2492}" destId="{0DC1D7CA-2CF2-4541-8507-10B140FA445B}" srcOrd="3" destOrd="0" presId="urn:microsoft.com/office/officeart/2018/2/layout/IconVerticalSolidList"/>
    <dgm:cxn modelId="{F2DF9F5C-8EF0-4360-9A45-125E38777D83}" type="presParOf" srcId="{B64FDFB7-7195-4A53-8EF6-1359BC279D99}" destId="{19EFDB1F-628C-43E6-91A2-318FD7D9AEB6}" srcOrd="3" destOrd="0" presId="urn:microsoft.com/office/officeart/2018/2/layout/IconVerticalSolidList"/>
    <dgm:cxn modelId="{E5FD8559-E745-485B-AB94-90B58F29A46F}" type="presParOf" srcId="{B64FDFB7-7195-4A53-8EF6-1359BC279D99}" destId="{92CF8C9E-2601-4996-BCBD-0FD4A25CF785}" srcOrd="4" destOrd="0" presId="urn:microsoft.com/office/officeart/2018/2/layout/IconVerticalSolidList"/>
    <dgm:cxn modelId="{4B580FAC-02C9-4A8F-83DC-5D9903894CE2}" type="presParOf" srcId="{92CF8C9E-2601-4996-BCBD-0FD4A25CF785}" destId="{FFEB2DDB-E09C-4F1F-BE82-1E51EEF85618}" srcOrd="0" destOrd="0" presId="urn:microsoft.com/office/officeart/2018/2/layout/IconVerticalSolidList"/>
    <dgm:cxn modelId="{414481EF-12D0-4BDE-BF5C-F3B35607FC7E}" type="presParOf" srcId="{92CF8C9E-2601-4996-BCBD-0FD4A25CF785}" destId="{35E48299-213F-4627-98D6-BF7990761443}" srcOrd="1" destOrd="0" presId="urn:microsoft.com/office/officeart/2018/2/layout/IconVerticalSolidList"/>
    <dgm:cxn modelId="{3335CD70-DA11-4452-8FAD-242DB74A195A}" type="presParOf" srcId="{92CF8C9E-2601-4996-BCBD-0FD4A25CF785}" destId="{FD4AE6E3-BB19-453C-9A19-38D06CF105B7}" srcOrd="2" destOrd="0" presId="urn:microsoft.com/office/officeart/2018/2/layout/IconVerticalSolidList"/>
    <dgm:cxn modelId="{CDCF457F-9E3E-4614-84DC-555DA0845CB1}" type="presParOf" srcId="{92CF8C9E-2601-4996-BCBD-0FD4A25CF785}" destId="{51078F81-87BF-4E4D-B23B-95C1C8FD49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6DAD6E-A902-4A6D-927D-5D835BA17C3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7C5B9D-3C5E-4997-BE3D-83C628A922A6}">
      <dgm:prSet custT="1"/>
      <dgm:spPr/>
      <dgm:t>
        <a:bodyPr/>
        <a:lstStyle/>
        <a:p>
          <a:r>
            <a:rPr lang="en-US" sz="2000"/>
            <a:t>Implemented with Python 3</a:t>
          </a:r>
        </a:p>
      </dgm:t>
    </dgm:pt>
    <dgm:pt modelId="{DADAE59E-2B1B-48C0-AE94-E2396CEE3105}" type="parTrans" cxnId="{F001294A-05C4-403E-AAF9-961C6B5D9350}">
      <dgm:prSet/>
      <dgm:spPr/>
      <dgm:t>
        <a:bodyPr/>
        <a:lstStyle/>
        <a:p>
          <a:endParaRPr lang="en-US"/>
        </a:p>
      </dgm:t>
    </dgm:pt>
    <dgm:pt modelId="{4594863A-B4A6-4FF2-BC8D-25528FB065CA}" type="sibTrans" cxnId="{F001294A-05C4-403E-AAF9-961C6B5D9350}">
      <dgm:prSet/>
      <dgm:spPr/>
      <dgm:t>
        <a:bodyPr/>
        <a:lstStyle/>
        <a:p>
          <a:endParaRPr lang="en-US"/>
        </a:p>
      </dgm:t>
    </dgm:pt>
    <dgm:pt modelId="{2AEC4766-E8A3-4FF7-8EBF-8AE46893C4FD}">
      <dgm:prSet custT="1"/>
      <dgm:spPr/>
      <dgm:t>
        <a:bodyPr/>
        <a:lstStyle/>
        <a:p>
          <a:r>
            <a:rPr lang="en-US" sz="2000"/>
            <a:t>Item counts tested: 10, 20, 50, 100</a:t>
          </a:r>
        </a:p>
      </dgm:t>
    </dgm:pt>
    <dgm:pt modelId="{C116D982-F80B-41A6-8F44-FEC8CD41284F}" type="parTrans" cxnId="{1217A68C-FB2E-4108-AC49-321DD526D606}">
      <dgm:prSet/>
      <dgm:spPr/>
      <dgm:t>
        <a:bodyPr/>
        <a:lstStyle/>
        <a:p>
          <a:endParaRPr lang="en-US"/>
        </a:p>
      </dgm:t>
    </dgm:pt>
    <dgm:pt modelId="{D2701E13-66D7-4C65-8CEA-F7969C32B24C}" type="sibTrans" cxnId="{1217A68C-FB2E-4108-AC49-321DD526D606}">
      <dgm:prSet/>
      <dgm:spPr/>
      <dgm:t>
        <a:bodyPr/>
        <a:lstStyle/>
        <a:p>
          <a:endParaRPr lang="en-US"/>
        </a:p>
      </dgm:t>
    </dgm:pt>
    <dgm:pt modelId="{A1519194-4C86-44A6-8289-5C073EFF7731}">
      <dgm:prSet custT="1"/>
      <dgm:spPr/>
      <dgm:t>
        <a:bodyPr/>
        <a:lstStyle/>
        <a:p>
          <a:r>
            <a:rPr lang="en-US" sz="2000"/>
            <a:t>Budgets tested: 50, 100, 200, 500</a:t>
          </a:r>
        </a:p>
      </dgm:t>
    </dgm:pt>
    <dgm:pt modelId="{921F493B-D051-4596-B957-DC366A3D0F92}" type="parTrans" cxnId="{5FD17441-7402-48B2-83BA-045B2E1BCD2E}">
      <dgm:prSet/>
      <dgm:spPr/>
      <dgm:t>
        <a:bodyPr/>
        <a:lstStyle/>
        <a:p>
          <a:endParaRPr lang="en-US"/>
        </a:p>
      </dgm:t>
    </dgm:pt>
    <dgm:pt modelId="{F1282E38-2FDC-4B6D-942B-EB61B7E29B57}" type="sibTrans" cxnId="{5FD17441-7402-48B2-83BA-045B2E1BCD2E}">
      <dgm:prSet/>
      <dgm:spPr/>
      <dgm:t>
        <a:bodyPr/>
        <a:lstStyle/>
        <a:p>
          <a:endParaRPr lang="en-US"/>
        </a:p>
      </dgm:t>
    </dgm:pt>
    <dgm:pt modelId="{73302173-7CCB-451C-AB03-B688846BFE1A}">
      <dgm:prSet custT="1"/>
      <dgm:spPr/>
      <dgm:t>
        <a:bodyPr/>
        <a:lstStyle/>
        <a:p>
          <a:r>
            <a:rPr lang="en-US" sz="2000"/>
            <a:t>Cost: random 1–50</a:t>
          </a:r>
        </a:p>
      </dgm:t>
    </dgm:pt>
    <dgm:pt modelId="{8939963E-8D5A-4E0C-BB50-8ABDCDD44D69}" type="parTrans" cxnId="{F9AD3FF1-4F86-4B05-A329-AF250AB7B12A}">
      <dgm:prSet/>
      <dgm:spPr/>
      <dgm:t>
        <a:bodyPr/>
        <a:lstStyle/>
        <a:p>
          <a:endParaRPr lang="en-US"/>
        </a:p>
      </dgm:t>
    </dgm:pt>
    <dgm:pt modelId="{970A03C8-3969-4F29-B5A0-C05C888A0B7D}" type="sibTrans" cxnId="{F9AD3FF1-4F86-4B05-A329-AF250AB7B12A}">
      <dgm:prSet/>
      <dgm:spPr/>
      <dgm:t>
        <a:bodyPr/>
        <a:lstStyle/>
        <a:p>
          <a:endParaRPr lang="en-US"/>
        </a:p>
      </dgm:t>
    </dgm:pt>
    <dgm:pt modelId="{0EE07DBE-C6B7-4164-8CC2-ADB70120F8A7}">
      <dgm:prSet custT="1"/>
      <dgm:spPr/>
      <dgm:t>
        <a:bodyPr/>
        <a:lstStyle/>
        <a:p>
          <a:r>
            <a:rPr lang="en-US" sz="2000"/>
            <a:t>Value: random 1–10</a:t>
          </a:r>
        </a:p>
      </dgm:t>
    </dgm:pt>
    <dgm:pt modelId="{45D21748-1F26-4565-A4EA-36AE4937F153}" type="parTrans" cxnId="{1D02E84B-58D0-4C91-88F7-6F84785CB1FC}">
      <dgm:prSet/>
      <dgm:spPr/>
      <dgm:t>
        <a:bodyPr/>
        <a:lstStyle/>
        <a:p>
          <a:endParaRPr lang="en-US"/>
        </a:p>
      </dgm:t>
    </dgm:pt>
    <dgm:pt modelId="{375A99ED-3672-4A1A-872F-5A44A33D9C7F}" type="sibTrans" cxnId="{1D02E84B-58D0-4C91-88F7-6F84785CB1FC}">
      <dgm:prSet/>
      <dgm:spPr/>
      <dgm:t>
        <a:bodyPr/>
        <a:lstStyle/>
        <a:p>
          <a:endParaRPr lang="en-US"/>
        </a:p>
      </dgm:t>
    </dgm:pt>
    <dgm:pt modelId="{832E0FB4-6FE0-45F5-AE93-0F2857A8CCAF}">
      <dgm:prSet custT="1"/>
      <dgm:spPr/>
      <dgm:t>
        <a:bodyPr/>
        <a:lstStyle/>
        <a:p>
          <a:r>
            <a:rPr lang="en-US" sz="2000"/>
            <a:t>Random seed tied to n so each run is consistent</a:t>
          </a:r>
        </a:p>
      </dgm:t>
    </dgm:pt>
    <dgm:pt modelId="{236F6C6F-1808-431A-AEB1-5FDEF5653CE7}" type="parTrans" cxnId="{86E2C925-75F8-42B7-B096-3E7C45115294}">
      <dgm:prSet/>
      <dgm:spPr/>
      <dgm:t>
        <a:bodyPr/>
        <a:lstStyle/>
        <a:p>
          <a:endParaRPr lang="en-US"/>
        </a:p>
      </dgm:t>
    </dgm:pt>
    <dgm:pt modelId="{C5F492B7-B8E2-4A54-B013-8836852BC2F0}" type="sibTrans" cxnId="{86E2C925-75F8-42B7-B096-3E7C45115294}">
      <dgm:prSet/>
      <dgm:spPr/>
      <dgm:t>
        <a:bodyPr/>
        <a:lstStyle/>
        <a:p>
          <a:endParaRPr lang="en-US"/>
        </a:p>
      </dgm:t>
    </dgm:pt>
    <dgm:pt modelId="{406B8DF4-27F6-41A2-9D5F-5CE87E23E303}" type="pres">
      <dgm:prSet presAssocID="{2B6DAD6E-A902-4A6D-927D-5D835BA17C3E}" presName="root" presStyleCnt="0">
        <dgm:presLayoutVars>
          <dgm:dir/>
          <dgm:resizeHandles val="exact"/>
        </dgm:presLayoutVars>
      </dgm:prSet>
      <dgm:spPr/>
    </dgm:pt>
    <dgm:pt modelId="{D893AC0D-7A2B-4747-8A02-780CA5C1A967}" type="pres">
      <dgm:prSet presAssocID="{0D7C5B9D-3C5E-4997-BE3D-83C628A922A6}" presName="compNode" presStyleCnt="0"/>
      <dgm:spPr/>
    </dgm:pt>
    <dgm:pt modelId="{EB8303CE-360D-45A7-B3FB-952FF706E359}" type="pres">
      <dgm:prSet presAssocID="{0D7C5B9D-3C5E-4997-BE3D-83C628A922A6}" presName="bgRect" presStyleLbl="bgShp" presStyleIdx="0" presStyleCnt="6"/>
      <dgm:spPr/>
    </dgm:pt>
    <dgm:pt modelId="{FE79BB46-C3A2-481E-9AFD-BE48272885E6}" type="pres">
      <dgm:prSet presAssocID="{0D7C5B9D-3C5E-4997-BE3D-83C628A922A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14A875C-2E30-4257-B1C2-40CFE45C4334}" type="pres">
      <dgm:prSet presAssocID="{0D7C5B9D-3C5E-4997-BE3D-83C628A922A6}" presName="spaceRect" presStyleCnt="0"/>
      <dgm:spPr/>
    </dgm:pt>
    <dgm:pt modelId="{E8E14C33-B0B9-4F11-90EB-C71472009DB0}" type="pres">
      <dgm:prSet presAssocID="{0D7C5B9D-3C5E-4997-BE3D-83C628A922A6}" presName="parTx" presStyleLbl="revTx" presStyleIdx="0" presStyleCnt="6">
        <dgm:presLayoutVars>
          <dgm:chMax val="0"/>
          <dgm:chPref val="0"/>
        </dgm:presLayoutVars>
      </dgm:prSet>
      <dgm:spPr/>
    </dgm:pt>
    <dgm:pt modelId="{69031E61-1865-48FD-A4E8-56FE08DADB6A}" type="pres">
      <dgm:prSet presAssocID="{4594863A-B4A6-4FF2-BC8D-25528FB065CA}" presName="sibTrans" presStyleCnt="0"/>
      <dgm:spPr/>
    </dgm:pt>
    <dgm:pt modelId="{1B942B44-B396-40D4-B392-617310383EAE}" type="pres">
      <dgm:prSet presAssocID="{2AEC4766-E8A3-4FF7-8EBF-8AE46893C4FD}" presName="compNode" presStyleCnt="0"/>
      <dgm:spPr/>
    </dgm:pt>
    <dgm:pt modelId="{B7228F39-D27B-4001-BEB2-8AC6A38127E1}" type="pres">
      <dgm:prSet presAssocID="{2AEC4766-E8A3-4FF7-8EBF-8AE46893C4FD}" presName="bgRect" presStyleLbl="bgShp" presStyleIdx="1" presStyleCnt="6"/>
      <dgm:spPr/>
    </dgm:pt>
    <dgm:pt modelId="{9D4B56E8-FA83-4548-9200-04AED0712AC2}" type="pres">
      <dgm:prSet presAssocID="{2AEC4766-E8A3-4FF7-8EBF-8AE46893C4F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4FF69FF0-8896-4579-8087-D86F98780DF3}" type="pres">
      <dgm:prSet presAssocID="{2AEC4766-E8A3-4FF7-8EBF-8AE46893C4FD}" presName="spaceRect" presStyleCnt="0"/>
      <dgm:spPr/>
    </dgm:pt>
    <dgm:pt modelId="{84290C77-34F6-43F2-A4F0-EBEBB2C094BC}" type="pres">
      <dgm:prSet presAssocID="{2AEC4766-E8A3-4FF7-8EBF-8AE46893C4FD}" presName="parTx" presStyleLbl="revTx" presStyleIdx="1" presStyleCnt="6">
        <dgm:presLayoutVars>
          <dgm:chMax val="0"/>
          <dgm:chPref val="0"/>
        </dgm:presLayoutVars>
      </dgm:prSet>
      <dgm:spPr/>
    </dgm:pt>
    <dgm:pt modelId="{3448EFE6-7F4A-4309-88C7-047D24E01158}" type="pres">
      <dgm:prSet presAssocID="{D2701E13-66D7-4C65-8CEA-F7969C32B24C}" presName="sibTrans" presStyleCnt="0"/>
      <dgm:spPr/>
    </dgm:pt>
    <dgm:pt modelId="{59006233-B464-46DF-9CF6-1B1F69662AA2}" type="pres">
      <dgm:prSet presAssocID="{A1519194-4C86-44A6-8289-5C073EFF7731}" presName="compNode" presStyleCnt="0"/>
      <dgm:spPr/>
    </dgm:pt>
    <dgm:pt modelId="{FD2378E7-E558-4262-8569-BC6DA0C26B5F}" type="pres">
      <dgm:prSet presAssocID="{A1519194-4C86-44A6-8289-5C073EFF7731}" presName="bgRect" presStyleLbl="bgShp" presStyleIdx="2" presStyleCnt="6"/>
      <dgm:spPr/>
    </dgm:pt>
    <dgm:pt modelId="{4A637727-BC5C-4279-88AC-2D3912080453}" type="pres">
      <dgm:prSet presAssocID="{A1519194-4C86-44A6-8289-5C073EFF773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E876FFA-B768-4694-BE5E-8AD7FAE0AAE9}" type="pres">
      <dgm:prSet presAssocID="{A1519194-4C86-44A6-8289-5C073EFF7731}" presName="spaceRect" presStyleCnt="0"/>
      <dgm:spPr/>
    </dgm:pt>
    <dgm:pt modelId="{18C75C9E-A35B-4974-A459-C0145C1856D7}" type="pres">
      <dgm:prSet presAssocID="{A1519194-4C86-44A6-8289-5C073EFF7731}" presName="parTx" presStyleLbl="revTx" presStyleIdx="2" presStyleCnt="6">
        <dgm:presLayoutVars>
          <dgm:chMax val="0"/>
          <dgm:chPref val="0"/>
        </dgm:presLayoutVars>
      </dgm:prSet>
      <dgm:spPr/>
    </dgm:pt>
    <dgm:pt modelId="{D0141BC4-03FB-4833-9450-0004AC05E856}" type="pres">
      <dgm:prSet presAssocID="{F1282E38-2FDC-4B6D-942B-EB61B7E29B57}" presName="sibTrans" presStyleCnt="0"/>
      <dgm:spPr/>
    </dgm:pt>
    <dgm:pt modelId="{B57338AD-01AE-4EA9-A780-886795292E69}" type="pres">
      <dgm:prSet presAssocID="{73302173-7CCB-451C-AB03-B688846BFE1A}" presName="compNode" presStyleCnt="0"/>
      <dgm:spPr/>
    </dgm:pt>
    <dgm:pt modelId="{8B935709-1F47-4300-BA0A-8ADA64345673}" type="pres">
      <dgm:prSet presAssocID="{73302173-7CCB-451C-AB03-B688846BFE1A}" presName="bgRect" presStyleLbl="bgShp" presStyleIdx="3" presStyleCnt="6"/>
      <dgm:spPr/>
    </dgm:pt>
    <dgm:pt modelId="{0783054E-2938-44C8-AD75-7461CA55BCE5}" type="pres">
      <dgm:prSet presAssocID="{73302173-7CCB-451C-AB03-B688846BFE1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FF9E69FD-AC63-4DC5-B9B4-EBB5BFE96795}" type="pres">
      <dgm:prSet presAssocID="{73302173-7CCB-451C-AB03-B688846BFE1A}" presName="spaceRect" presStyleCnt="0"/>
      <dgm:spPr/>
    </dgm:pt>
    <dgm:pt modelId="{00E35897-9AE9-47B8-AD00-BB1F1CF4DDCE}" type="pres">
      <dgm:prSet presAssocID="{73302173-7CCB-451C-AB03-B688846BFE1A}" presName="parTx" presStyleLbl="revTx" presStyleIdx="3" presStyleCnt="6">
        <dgm:presLayoutVars>
          <dgm:chMax val="0"/>
          <dgm:chPref val="0"/>
        </dgm:presLayoutVars>
      </dgm:prSet>
      <dgm:spPr/>
    </dgm:pt>
    <dgm:pt modelId="{A511AA84-874E-471D-8E4B-11EC14992B2C}" type="pres">
      <dgm:prSet presAssocID="{970A03C8-3969-4F29-B5A0-C05C888A0B7D}" presName="sibTrans" presStyleCnt="0"/>
      <dgm:spPr/>
    </dgm:pt>
    <dgm:pt modelId="{F7B66551-7416-4DED-AC09-7602CDFC5000}" type="pres">
      <dgm:prSet presAssocID="{0EE07DBE-C6B7-4164-8CC2-ADB70120F8A7}" presName="compNode" presStyleCnt="0"/>
      <dgm:spPr/>
    </dgm:pt>
    <dgm:pt modelId="{C3DED5BA-022D-427C-8409-5E6ABCA6AD75}" type="pres">
      <dgm:prSet presAssocID="{0EE07DBE-C6B7-4164-8CC2-ADB70120F8A7}" presName="bgRect" presStyleLbl="bgShp" presStyleIdx="4" presStyleCnt="6"/>
      <dgm:spPr/>
    </dgm:pt>
    <dgm:pt modelId="{2D3C09A6-E954-4D92-BE1C-2CA5B44A4036}" type="pres">
      <dgm:prSet presAssocID="{0EE07DBE-C6B7-4164-8CC2-ADB70120F8A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321ACF90-9EE4-4B87-BE84-4FBA1354F1BE}" type="pres">
      <dgm:prSet presAssocID="{0EE07DBE-C6B7-4164-8CC2-ADB70120F8A7}" presName="spaceRect" presStyleCnt="0"/>
      <dgm:spPr/>
    </dgm:pt>
    <dgm:pt modelId="{4207C7D1-D1E1-48E3-BF99-DC29205270A9}" type="pres">
      <dgm:prSet presAssocID="{0EE07DBE-C6B7-4164-8CC2-ADB70120F8A7}" presName="parTx" presStyleLbl="revTx" presStyleIdx="4" presStyleCnt="6">
        <dgm:presLayoutVars>
          <dgm:chMax val="0"/>
          <dgm:chPref val="0"/>
        </dgm:presLayoutVars>
      </dgm:prSet>
      <dgm:spPr/>
    </dgm:pt>
    <dgm:pt modelId="{C9D0870D-5BA9-4BDA-87C2-03A91B4AF1BA}" type="pres">
      <dgm:prSet presAssocID="{375A99ED-3672-4A1A-872F-5A44A33D9C7F}" presName="sibTrans" presStyleCnt="0"/>
      <dgm:spPr/>
    </dgm:pt>
    <dgm:pt modelId="{0944A231-7188-49A6-B64C-6938EBF1BC70}" type="pres">
      <dgm:prSet presAssocID="{832E0FB4-6FE0-45F5-AE93-0F2857A8CCAF}" presName="compNode" presStyleCnt="0"/>
      <dgm:spPr/>
    </dgm:pt>
    <dgm:pt modelId="{A3F4FF04-E995-4741-AEEA-859511351D81}" type="pres">
      <dgm:prSet presAssocID="{832E0FB4-6FE0-45F5-AE93-0F2857A8CCAF}" presName="bgRect" presStyleLbl="bgShp" presStyleIdx="5" presStyleCnt="6"/>
      <dgm:spPr/>
    </dgm:pt>
    <dgm:pt modelId="{6F7842A4-4630-428F-982E-21E83DF4C2BA}" type="pres">
      <dgm:prSet presAssocID="{832E0FB4-6FE0-45F5-AE93-0F2857A8CCA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B5DC0731-888E-4402-ABAD-085172CE2F71}" type="pres">
      <dgm:prSet presAssocID="{832E0FB4-6FE0-45F5-AE93-0F2857A8CCAF}" presName="spaceRect" presStyleCnt="0"/>
      <dgm:spPr/>
    </dgm:pt>
    <dgm:pt modelId="{3DAC3551-C933-4600-BCAB-420CFB4CBDA3}" type="pres">
      <dgm:prSet presAssocID="{832E0FB4-6FE0-45F5-AE93-0F2857A8CCA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790980A-004F-4085-89CD-41B34B06BAC1}" type="presOf" srcId="{2B6DAD6E-A902-4A6D-927D-5D835BA17C3E}" destId="{406B8DF4-27F6-41A2-9D5F-5CE87E23E303}" srcOrd="0" destOrd="0" presId="urn:microsoft.com/office/officeart/2018/2/layout/IconVerticalSolidList"/>
    <dgm:cxn modelId="{86E2C925-75F8-42B7-B096-3E7C45115294}" srcId="{2B6DAD6E-A902-4A6D-927D-5D835BA17C3E}" destId="{832E0FB4-6FE0-45F5-AE93-0F2857A8CCAF}" srcOrd="5" destOrd="0" parTransId="{236F6C6F-1808-431A-AEB1-5FDEF5653CE7}" sibTransId="{C5F492B7-B8E2-4A54-B013-8836852BC2F0}"/>
    <dgm:cxn modelId="{191E3C3C-B0EF-416B-9B08-8C15885DF623}" type="presOf" srcId="{A1519194-4C86-44A6-8289-5C073EFF7731}" destId="{18C75C9E-A35B-4974-A459-C0145C1856D7}" srcOrd="0" destOrd="0" presId="urn:microsoft.com/office/officeart/2018/2/layout/IconVerticalSolidList"/>
    <dgm:cxn modelId="{5FD17441-7402-48B2-83BA-045B2E1BCD2E}" srcId="{2B6DAD6E-A902-4A6D-927D-5D835BA17C3E}" destId="{A1519194-4C86-44A6-8289-5C073EFF7731}" srcOrd="2" destOrd="0" parTransId="{921F493B-D051-4596-B957-DC366A3D0F92}" sibTransId="{F1282E38-2FDC-4B6D-942B-EB61B7E29B57}"/>
    <dgm:cxn modelId="{F001294A-05C4-403E-AAF9-961C6B5D9350}" srcId="{2B6DAD6E-A902-4A6D-927D-5D835BA17C3E}" destId="{0D7C5B9D-3C5E-4997-BE3D-83C628A922A6}" srcOrd="0" destOrd="0" parTransId="{DADAE59E-2B1B-48C0-AE94-E2396CEE3105}" sibTransId="{4594863A-B4A6-4FF2-BC8D-25528FB065CA}"/>
    <dgm:cxn modelId="{0A62D96B-99C5-42B1-943A-4267F2DB35E0}" type="presOf" srcId="{73302173-7CCB-451C-AB03-B688846BFE1A}" destId="{00E35897-9AE9-47B8-AD00-BB1F1CF4DDCE}" srcOrd="0" destOrd="0" presId="urn:microsoft.com/office/officeart/2018/2/layout/IconVerticalSolidList"/>
    <dgm:cxn modelId="{1D02E84B-58D0-4C91-88F7-6F84785CB1FC}" srcId="{2B6DAD6E-A902-4A6D-927D-5D835BA17C3E}" destId="{0EE07DBE-C6B7-4164-8CC2-ADB70120F8A7}" srcOrd="4" destOrd="0" parTransId="{45D21748-1F26-4565-A4EA-36AE4937F153}" sibTransId="{375A99ED-3672-4A1A-872F-5A44A33D9C7F}"/>
    <dgm:cxn modelId="{97F08973-E616-43F9-BBDD-DC2C15BBF10A}" type="presOf" srcId="{0D7C5B9D-3C5E-4997-BE3D-83C628A922A6}" destId="{E8E14C33-B0B9-4F11-90EB-C71472009DB0}" srcOrd="0" destOrd="0" presId="urn:microsoft.com/office/officeart/2018/2/layout/IconVerticalSolidList"/>
    <dgm:cxn modelId="{AB99EA86-81ED-4631-8E14-0C7A3D9F02AB}" type="presOf" srcId="{0EE07DBE-C6B7-4164-8CC2-ADB70120F8A7}" destId="{4207C7D1-D1E1-48E3-BF99-DC29205270A9}" srcOrd="0" destOrd="0" presId="urn:microsoft.com/office/officeart/2018/2/layout/IconVerticalSolidList"/>
    <dgm:cxn modelId="{1217A68C-FB2E-4108-AC49-321DD526D606}" srcId="{2B6DAD6E-A902-4A6D-927D-5D835BA17C3E}" destId="{2AEC4766-E8A3-4FF7-8EBF-8AE46893C4FD}" srcOrd="1" destOrd="0" parTransId="{C116D982-F80B-41A6-8F44-FEC8CD41284F}" sibTransId="{D2701E13-66D7-4C65-8CEA-F7969C32B24C}"/>
    <dgm:cxn modelId="{F0FEFA9C-FEB8-4707-BEB4-915FEC9C410C}" type="presOf" srcId="{2AEC4766-E8A3-4FF7-8EBF-8AE46893C4FD}" destId="{84290C77-34F6-43F2-A4F0-EBEBB2C094BC}" srcOrd="0" destOrd="0" presId="urn:microsoft.com/office/officeart/2018/2/layout/IconVerticalSolidList"/>
    <dgm:cxn modelId="{900587C6-99AE-4166-B644-D859EAD765DB}" type="presOf" srcId="{832E0FB4-6FE0-45F5-AE93-0F2857A8CCAF}" destId="{3DAC3551-C933-4600-BCAB-420CFB4CBDA3}" srcOrd="0" destOrd="0" presId="urn:microsoft.com/office/officeart/2018/2/layout/IconVerticalSolidList"/>
    <dgm:cxn modelId="{F9AD3FF1-4F86-4B05-A329-AF250AB7B12A}" srcId="{2B6DAD6E-A902-4A6D-927D-5D835BA17C3E}" destId="{73302173-7CCB-451C-AB03-B688846BFE1A}" srcOrd="3" destOrd="0" parTransId="{8939963E-8D5A-4E0C-BB50-8ABDCDD44D69}" sibTransId="{970A03C8-3969-4F29-B5A0-C05C888A0B7D}"/>
    <dgm:cxn modelId="{32D4D740-FC42-4264-9B3E-187F2EFF36CB}" type="presParOf" srcId="{406B8DF4-27F6-41A2-9D5F-5CE87E23E303}" destId="{D893AC0D-7A2B-4747-8A02-780CA5C1A967}" srcOrd="0" destOrd="0" presId="urn:microsoft.com/office/officeart/2018/2/layout/IconVerticalSolidList"/>
    <dgm:cxn modelId="{E0F6E915-5CB9-489E-83F6-D94C0468B0C3}" type="presParOf" srcId="{D893AC0D-7A2B-4747-8A02-780CA5C1A967}" destId="{EB8303CE-360D-45A7-B3FB-952FF706E359}" srcOrd="0" destOrd="0" presId="urn:microsoft.com/office/officeart/2018/2/layout/IconVerticalSolidList"/>
    <dgm:cxn modelId="{1FC38827-33F8-4C8B-B95C-EE9E79BEF9BE}" type="presParOf" srcId="{D893AC0D-7A2B-4747-8A02-780CA5C1A967}" destId="{FE79BB46-C3A2-481E-9AFD-BE48272885E6}" srcOrd="1" destOrd="0" presId="urn:microsoft.com/office/officeart/2018/2/layout/IconVerticalSolidList"/>
    <dgm:cxn modelId="{82D89F93-2E34-436E-9071-4EAC51121D6E}" type="presParOf" srcId="{D893AC0D-7A2B-4747-8A02-780CA5C1A967}" destId="{014A875C-2E30-4257-B1C2-40CFE45C4334}" srcOrd="2" destOrd="0" presId="urn:microsoft.com/office/officeart/2018/2/layout/IconVerticalSolidList"/>
    <dgm:cxn modelId="{08D63EDA-A6AD-4FFD-89F5-7321B03EE3F8}" type="presParOf" srcId="{D893AC0D-7A2B-4747-8A02-780CA5C1A967}" destId="{E8E14C33-B0B9-4F11-90EB-C71472009DB0}" srcOrd="3" destOrd="0" presId="urn:microsoft.com/office/officeart/2018/2/layout/IconVerticalSolidList"/>
    <dgm:cxn modelId="{157BDF52-77A0-4496-84CC-729C4A8CAEB3}" type="presParOf" srcId="{406B8DF4-27F6-41A2-9D5F-5CE87E23E303}" destId="{69031E61-1865-48FD-A4E8-56FE08DADB6A}" srcOrd="1" destOrd="0" presId="urn:microsoft.com/office/officeart/2018/2/layout/IconVerticalSolidList"/>
    <dgm:cxn modelId="{D36F1965-33E2-43AE-86EA-71966E5B7698}" type="presParOf" srcId="{406B8DF4-27F6-41A2-9D5F-5CE87E23E303}" destId="{1B942B44-B396-40D4-B392-617310383EAE}" srcOrd="2" destOrd="0" presId="urn:microsoft.com/office/officeart/2018/2/layout/IconVerticalSolidList"/>
    <dgm:cxn modelId="{F4C94073-D75B-4F0B-B505-025749E59C2E}" type="presParOf" srcId="{1B942B44-B396-40D4-B392-617310383EAE}" destId="{B7228F39-D27B-4001-BEB2-8AC6A38127E1}" srcOrd="0" destOrd="0" presId="urn:microsoft.com/office/officeart/2018/2/layout/IconVerticalSolidList"/>
    <dgm:cxn modelId="{87FA0785-AAA1-4676-8050-2EAB8810755E}" type="presParOf" srcId="{1B942B44-B396-40D4-B392-617310383EAE}" destId="{9D4B56E8-FA83-4548-9200-04AED0712AC2}" srcOrd="1" destOrd="0" presId="urn:microsoft.com/office/officeart/2018/2/layout/IconVerticalSolidList"/>
    <dgm:cxn modelId="{57D0C6E0-330D-4439-B318-C4A863A26A6E}" type="presParOf" srcId="{1B942B44-B396-40D4-B392-617310383EAE}" destId="{4FF69FF0-8896-4579-8087-D86F98780DF3}" srcOrd="2" destOrd="0" presId="urn:microsoft.com/office/officeart/2018/2/layout/IconVerticalSolidList"/>
    <dgm:cxn modelId="{EE15D90B-79A7-4575-A4C0-52724751D16A}" type="presParOf" srcId="{1B942B44-B396-40D4-B392-617310383EAE}" destId="{84290C77-34F6-43F2-A4F0-EBEBB2C094BC}" srcOrd="3" destOrd="0" presId="urn:microsoft.com/office/officeart/2018/2/layout/IconVerticalSolidList"/>
    <dgm:cxn modelId="{D1CC34E4-7180-4274-959E-04193317897D}" type="presParOf" srcId="{406B8DF4-27F6-41A2-9D5F-5CE87E23E303}" destId="{3448EFE6-7F4A-4309-88C7-047D24E01158}" srcOrd="3" destOrd="0" presId="urn:microsoft.com/office/officeart/2018/2/layout/IconVerticalSolidList"/>
    <dgm:cxn modelId="{2D0344F0-3CC9-4A19-A69A-CAA1037F7BA5}" type="presParOf" srcId="{406B8DF4-27F6-41A2-9D5F-5CE87E23E303}" destId="{59006233-B464-46DF-9CF6-1B1F69662AA2}" srcOrd="4" destOrd="0" presId="urn:microsoft.com/office/officeart/2018/2/layout/IconVerticalSolidList"/>
    <dgm:cxn modelId="{E4EEA75D-5704-464E-8768-97F8D6F453E6}" type="presParOf" srcId="{59006233-B464-46DF-9CF6-1B1F69662AA2}" destId="{FD2378E7-E558-4262-8569-BC6DA0C26B5F}" srcOrd="0" destOrd="0" presId="urn:microsoft.com/office/officeart/2018/2/layout/IconVerticalSolidList"/>
    <dgm:cxn modelId="{750EC14E-A4B1-4A5B-B592-1260F5689FEB}" type="presParOf" srcId="{59006233-B464-46DF-9CF6-1B1F69662AA2}" destId="{4A637727-BC5C-4279-88AC-2D3912080453}" srcOrd="1" destOrd="0" presId="urn:microsoft.com/office/officeart/2018/2/layout/IconVerticalSolidList"/>
    <dgm:cxn modelId="{58EB8A73-5544-40E6-80C1-D9AE58BBAD5A}" type="presParOf" srcId="{59006233-B464-46DF-9CF6-1B1F69662AA2}" destId="{0E876FFA-B768-4694-BE5E-8AD7FAE0AAE9}" srcOrd="2" destOrd="0" presId="urn:microsoft.com/office/officeart/2018/2/layout/IconVerticalSolidList"/>
    <dgm:cxn modelId="{0502F8F0-C4F1-479D-95C7-97A9780593D8}" type="presParOf" srcId="{59006233-B464-46DF-9CF6-1B1F69662AA2}" destId="{18C75C9E-A35B-4974-A459-C0145C1856D7}" srcOrd="3" destOrd="0" presId="urn:microsoft.com/office/officeart/2018/2/layout/IconVerticalSolidList"/>
    <dgm:cxn modelId="{39FE9BBA-4504-4996-BEB5-99360EF5AD24}" type="presParOf" srcId="{406B8DF4-27F6-41A2-9D5F-5CE87E23E303}" destId="{D0141BC4-03FB-4833-9450-0004AC05E856}" srcOrd="5" destOrd="0" presId="urn:microsoft.com/office/officeart/2018/2/layout/IconVerticalSolidList"/>
    <dgm:cxn modelId="{8EECE81F-01E5-4B1F-BDBC-1D196FF6EFD4}" type="presParOf" srcId="{406B8DF4-27F6-41A2-9D5F-5CE87E23E303}" destId="{B57338AD-01AE-4EA9-A780-886795292E69}" srcOrd="6" destOrd="0" presId="urn:microsoft.com/office/officeart/2018/2/layout/IconVerticalSolidList"/>
    <dgm:cxn modelId="{0970B62D-F164-448C-9759-BF6BB8A8464E}" type="presParOf" srcId="{B57338AD-01AE-4EA9-A780-886795292E69}" destId="{8B935709-1F47-4300-BA0A-8ADA64345673}" srcOrd="0" destOrd="0" presId="urn:microsoft.com/office/officeart/2018/2/layout/IconVerticalSolidList"/>
    <dgm:cxn modelId="{1CD5955B-65BD-49A7-806A-BBDE031A2876}" type="presParOf" srcId="{B57338AD-01AE-4EA9-A780-886795292E69}" destId="{0783054E-2938-44C8-AD75-7461CA55BCE5}" srcOrd="1" destOrd="0" presId="urn:microsoft.com/office/officeart/2018/2/layout/IconVerticalSolidList"/>
    <dgm:cxn modelId="{C87CAB07-25A9-4D07-A716-1109F0D0432F}" type="presParOf" srcId="{B57338AD-01AE-4EA9-A780-886795292E69}" destId="{FF9E69FD-AC63-4DC5-B9B4-EBB5BFE96795}" srcOrd="2" destOrd="0" presId="urn:microsoft.com/office/officeart/2018/2/layout/IconVerticalSolidList"/>
    <dgm:cxn modelId="{AB0E1131-C7FD-469E-9DD4-B32E6DC46193}" type="presParOf" srcId="{B57338AD-01AE-4EA9-A780-886795292E69}" destId="{00E35897-9AE9-47B8-AD00-BB1F1CF4DDCE}" srcOrd="3" destOrd="0" presId="urn:microsoft.com/office/officeart/2018/2/layout/IconVerticalSolidList"/>
    <dgm:cxn modelId="{13278C2F-C4AB-4548-8FB6-1299585F2EDA}" type="presParOf" srcId="{406B8DF4-27F6-41A2-9D5F-5CE87E23E303}" destId="{A511AA84-874E-471D-8E4B-11EC14992B2C}" srcOrd="7" destOrd="0" presId="urn:microsoft.com/office/officeart/2018/2/layout/IconVerticalSolidList"/>
    <dgm:cxn modelId="{9B3472AF-4546-4F43-BDD5-B38A254FC2C1}" type="presParOf" srcId="{406B8DF4-27F6-41A2-9D5F-5CE87E23E303}" destId="{F7B66551-7416-4DED-AC09-7602CDFC5000}" srcOrd="8" destOrd="0" presId="urn:microsoft.com/office/officeart/2018/2/layout/IconVerticalSolidList"/>
    <dgm:cxn modelId="{8BD95F30-33CE-40C5-81EC-61EF67BE12C0}" type="presParOf" srcId="{F7B66551-7416-4DED-AC09-7602CDFC5000}" destId="{C3DED5BA-022D-427C-8409-5E6ABCA6AD75}" srcOrd="0" destOrd="0" presId="urn:microsoft.com/office/officeart/2018/2/layout/IconVerticalSolidList"/>
    <dgm:cxn modelId="{73A044E8-4584-4FBE-A739-40F4369533CA}" type="presParOf" srcId="{F7B66551-7416-4DED-AC09-7602CDFC5000}" destId="{2D3C09A6-E954-4D92-BE1C-2CA5B44A4036}" srcOrd="1" destOrd="0" presId="urn:microsoft.com/office/officeart/2018/2/layout/IconVerticalSolidList"/>
    <dgm:cxn modelId="{A2605322-4AF2-4620-AD53-D994FB57D888}" type="presParOf" srcId="{F7B66551-7416-4DED-AC09-7602CDFC5000}" destId="{321ACF90-9EE4-4B87-BE84-4FBA1354F1BE}" srcOrd="2" destOrd="0" presId="urn:microsoft.com/office/officeart/2018/2/layout/IconVerticalSolidList"/>
    <dgm:cxn modelId="{CA4E6CE2-6564-4995-8E3C-76F0699B74AA}" type="presParOf" srcId="{F7B66551-7416-4DED-AC09-7602CDFC5000}" destId="{4207C7D1-D1E1-48E3-BF99-DC29205270A9}" srcOrd="3" destOrd="0" presId="urn:microsoft.com/office/officeart/2018/2/layout/IconVerticalSolidList"/>
    <dgm:cxn modelId="{C881CBBE-AD97-4FCF-B2E6-C08654EB3C99}" type="presParOf" srcId="{406B8DF4-27F6-41A2-9D5F-5CE87E23E303}" destId="{C9D0870D-5BA9-4BDA-87C2-03A91B4AF1BA}" srcOrd="9" destOrd="0" presId="urn:microsoft.com/office/officeart/2018/2/layout/IconVerticalSolidList"/>
    <dgm:cxn modelId="{B2628B78-E83D-49DF-9698-3B17D43187A9}" type="presParOf" srcId="{406B8DF4-27F6-41A2-9D5F-5CE87E23E303}" destId="{0944A231-7188-49A6-B64C-6938EBF1BC70}" srcOrd="10" destOrd="0" presId="urn:microsoft.com/office/officeart/2018/2/layout/IconVerticalSolidList"/>
    <dgm:cxn modelId="{AA2EAEBA-CA8F-447A-BCE9-9EA7118BFE7B}" type="presParOf" srcId="{0944A231-7188-49A6-B64C-6938EBF1BC70}" destId="{A3F4FF04-E995-4741-AEEA-859511351D81}" srcOrd="0" destOrd="0" presId="urn:microsoft.com/office/officeart/2018/2/layout/IconVerticalSolidList"/>
    <dgm:cxn modelId="{90813302-3B83-4ADD-BE89-4753656D0DB9}" type="presParOf" srcId="{0944A231-7188-49A6-B64C-6938EBF1BC70}" destId="{6F7842A4-4630-428F-982E-21E83DF4C2BA}" srcOrd="1" destOrd="0" presId="urn:microsoft.com/office/officeart/2018/2/layout/IconVerticalSolidList"/>
    <dgm:cxn modelId="{01D19994-F006-484F-AA13-F25F6D9CCFE0}" type="presParOf" srcId="{0944A231-7188-49A6-B64C-6938EBF1BC70}" destId="{B5DC0731-888E-4402-ABAD-085172CE2F71}" srcOrd="2" destOrd="0" presId="urn:microsoft.com/office/officeart/2018/2/layout/IconVerticalSolidList"/>
    <dgm:cxn modelId="{1B1C77AA-7E38-4A21-B9AE-90C84B46C56B}" type="presParOf" srcId="{0944A231-7188-49A6-B64C-6938EBF1BC70}" destId="{3DAC3551-C933-4600-BCAB-420CFB4CBD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AC7B8F-6B27-42FE-ACB2-BA4DF9D346B8}">
      <dsp:nvSpPr>
        <dsp:cNvPr id="0" name=""/>
        <dsp:cNvSpPr/>
      </dsp:nvSpPr>
      <dsp:spPr>
        <a:xfrm>
          <a:off x="0" y="2484"/>
          <a:ext cx="5450186" cy="11874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C7E8F-E7F6-4167-A9D3-627A16800B5B}">
      <dsp:nvSpPr>
        <dsp:cNvPr id="0" name=""/>
        <dsp:cNvSpPr/>
      </dsp:nvSpPr>
      <dsp:spPr>
        <a:xfrm>
          <a:off x="359205" y="269662"/>
          <a:ext cx="653739" cy="6531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592EC-DC6D-455C-BC1A-D48AEF5CC106}">
      <dsp:nvSpPr>
        <dsp:cNvPr id="0" name=""/>
        <dsp:cNvSpPr/>
      </dsp:nvSpPr>
      <dsp:spPr>
        <a:xfrm>
          <a:off x="1372150" y="2484"/>
          <a:ext cx="3932651" cy="1188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95" tIns="125795" rIns="125795" bIns="12579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Choose the best set of pieces for a board-game prototype while staying under a fixed budget</a:t>
          </a:r>
        </a:p>
      </dsp:txBody>
      <dsp:txXfrm>
        <a:off x="1372150" y="2484"/>
        <a:ext cx="3932651" cy="1188617"/>
      </dsp:txXfrm>
    </dsp:sp>
    <dsp:sp modelId="{1AF1D281-E1C2-4F5C-BD6C-5B682F25222C}">
      <dsp:nvSpPr>
        <dsp:cNvPr id="0" name=""/>
        <dsp:cNvSpPr/>
      </dsp:nvSpPr>
      <dsp:spPr>
        <a:xfrm>
          <a:off x="0" y="1441336"/>
          <a:ext cx="5450186" cy="11874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2F3AC-CC89-45A2-9CC5-C07190B6B576}">
      <dsp:nvSpPr>
        <dsp:cNvPr id="0" name=""/>
        <dsp:cNvSpPr/>
      </dsp:nvSpPr>
      <dsp:spPr>
        <a:xfrm>
          <a:off x="359205" y="1708514"/>
          <a:ext cx="653739" cy="6531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1D7CA-2CF2-4541-8507-10B140FA445B}">
      <dsp:nvSpPr>
        <dsp:cNvPr id="0" name=""/>
        <dsp:cNvSpPr/>
      </dsp:nvSpPr>
      <dsp:spPr>
        <a:xfrm>
          <a:off x="1372150" y="1441336"/>
          <a:ext cx="3932651" cy="1188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95" tIns="125795" rIns="125795" bIns="12579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piece has a cost and </a:t>
          </a:r>
          <a:r>
            <a:rPr lang="en-US" sz="1900" b="1" kern="1200"/>
            <a:t>interestingness value</a:t>
          </a:r>
          <a:r>
            <a:rPr lang="en-US" sz="1900" kern="1200"/>
            <a:t>; goal is to spend the money wisely while getting the most "fun" possible</a:t>
          </a:r>
        </a:p>
      </dsp:txBody>
      <dsp:txXfrm>
        <a:off x="1372150" y="1441336"/>
        <a:ext cx="3932651" cy="1188617"/>
      </dsp:txXfrm>
    </dsp:sp>
    <dsp:sp modelId="{FFEB2DDB-E09C-4F1F-BE82-1E51EEF85618}">
      <dsp:nvSpPr>
        <dsp:cNvPr id="0" name=""/>
        <dsp:cNvSpPr/>
      </dsp:nvSpPr>
      <dsp:spPr>
        <a:xfrm>
          <a:off x="0" y="2883834"/>
          <a:ext cx="5450186" cy="11874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E48299-213F-4627-98D6-BF7990761443}">
      <dsp:nvSpPr>
        <dsp:cNvPr id="0" name=""/>
        <dsp:cNvSpPr/>
      </dsp:nvSpPr>
      <dsp:spPr>
        <a:xfrm>
          <a:off x="359205" y="3147367"/>
          <a:ext cx="653739" cy="6531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78F81-87BF-4E4D-B23B-95C1C8FD4934}">
      <dsp:nvSpPr>
        <dsp:cNvPr id="0" name=""/>
        <dsp:cNvSpPr/>
      </dsp:nvSpPr>
      <dsp:spPr>
        <a:xfrm>
          <a:off x="1372150" y="2880189"/>
          <a:ext cx="3932651" cy="11886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95" tIns="125795" rIns="125795" bIns="12579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3 ways we compared to solve it: </a:t>
          </a:r>
          <a:r>
            <a:rPr lang="en-US" sz="1800" b="1" kern="1200"/>
            <a:t>Brute force, Top-down dynamic, Greedy</a:t>
          </a:r>
          <a:r>
            <a:rPr lang="en-US" sz="1800" kern="1200"/>
            <a:t>. We chose these 3 because of their difference in speed and accuracy</a:t>
          </a:r>
        </a:p>
      </dsp:txBody>
      <dsp:txXfrm>
        <a:off x="1372150" y="2880189"/>
        <a:ext cx="3932651" cy="11886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8303CE-360D-45A7-B3FB-952FF706E359}">
      <dsp:nvSpPr>
        <dsp:cNvPr id="0" name=""/>
        <dsp:cNvSpPr/>
      </dsp:nvSpPr>
      <dsp:spPr>
        <a:xfrm>
          <a:off x="0" y="1778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79BB46-C3A2-481E-9AFD-BE48272885E6}">
      <dsp:nvSpPr>
        <dsp:cNvPr id="0" name=""/>
        <dsp:cNvSpPr/>
      </dsp:nvSpPr>
      <dsp:spPr>
        <a:xfrm>
          <a:off x="229296" y="172330"/>
          <a:ext cx="416903" cy="4169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14C33-B0B9-4F11-90EB-C71472009DB0}">
      <dsp:nvSpPr>
        <dsp:cNvPr id="0" name=""/>
        <dsp:cNvSpPr/>
      </dsp:nvSpPr>
      <dsp:spPr>
        <a:xfrm>
          <a:off x="875496" y="1778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Implemented with Python 3</a:t>
          </a:r>
        </a:p>
      </dsp:txBody>
      <dsp:txXfrm>
        <a:off x="875496" y="1778"/>
        <a:ext cx="5296451" cy="758005"/>
      </dsp:txXfrm>
    </dsp:sp>
    <dsp:sp modelId="{B7228F39-D27B-4001-BEB2-8AC6A38127E1}">
      <dsp:nvSpPr>
        <dsp:cNvPr id="0" name=""/>
        <dsp:cNvSpPr/>
      </dsp:nvSpPr>
      <dsp:spPr>
        <a:xfrm>
          <a:off x="0" y="949286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B56E8-FA83-4548-9200-04AED0712AC2}">
      <dsp:nvSpPr>
        <dsp:cNvPr id="0" name=""/>
        <dsp:cNvSpPr/>
      </dsp:nvSpPr>
      <dsp:spPr>
        <a:xfrm>
          <a:off x="229296" y="1119837"/>
          <a:ext cx="416903" cy="4169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90C77-34F6-43F2-A4F0-EBEBB2C094BC}">
      <dsp:nvSpPr>
        <dsp:cNvPr id="0" name=""/>
        <dsp:cNvSpPr/>
      </dsp:nvSpPr>
      <dsp:spPr>
        <a:xfrm>
          <a:off x="875496" y="949286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Item counts tested: 10, 20, 50, 100</a:t>
          </a:r>
        </a:p>
      </dsp:txBody>
      <dsp:txXfrm>
        <a:off x="875496" y="949286"/>
        <a:ext cx="5296451" cy="758005"/>
      </dsp:txXfrm>
    </dsp:sp>
    <dsp:sp modelId="{FD2378E7-E558-4262-8569-BC6DA0C26B5F}">
      <dsp:nvSpPr>
        <dsp:cNvPr id="0" name=""/>
        <dsp:cNvSpPr/>
      </dsp:nvSpPr>
      <dsp:spPr>
        <a:xfrm>
          <a:off x="0" y="1896793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637727-BC5C-4279-88AC-2D3912080453}">
      <dsp:nvSpPr>
        <dsp:cNvPr id="0" name=""/>
        <dsp:cNvSpPr/>
      </dsp:nvSpPr>
      <dsp:spPr>
        <a:xfrm>
          <a:off x="229296" y="2067344"/>
          <a:ext cx="416903" cy="4169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75C9E-A35B-4974-A459-C0145C1856D7}">
      <dsp:nvSpPr>
        <dsp:cNvPr id="0" name=""/>
        <dsp:cNvSpPr/>
      </dsp:nvSpPr>
      <dsp:spPr>
        <a:xfrm>
          <a:off x="875496" y="1896793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Budgets tested: 50, 100, 200, 500</a:t>
          </a:r>
        </a:p>
      </dsp:txBody>
      <dsp:txXfrm>
        <a:off x="875496" y="1896793"/>
        <a:ext cx="5296451" cy="758005"/>
      </dsp:txXfrm>
    </dsp:sp>
    <dsp:sp modelId="{8B935709-1F47-4300-BA0A-8ADA64345673}">
      <dsp:nvSpPr>
        <dsp:cNvPr id="0" name=""/>
        <dsp:cNvSpPr/>
      </dsp:nvSpPr>
      <dsp:spPr>
        <a:xfrm>
          <a:off x="0" y="2844300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83054E-2938-44C8-AD75-7461CA55BCE5}">
      <dsp:nvSpPr>
        <dsp:cNvPr id="0" name=""/>
        <dsp:cNvSpPr/>
      </dsp:nvSpPr>
      <dsp:spPr>
        <a:xfrm>
          <a:off x="229296" y="3014852"/>
          <a:ext cx="416903" cy="4169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35897-9AE9-47B8-AD00-BB1F1CF4DDCE}">
      <dsp:nvSpPr>
        <dsp:cNvPr id="0" name=""/>
        <dsp:cNvSpPr/>
      </dsp:nvSpPr>
      <dsp:spPr>
        <a:xfrm>
          <a:off x="875496" y="2844300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Cost: random 1–50</a:t>
          </a:r>
        </a:p>
      </dsp:txBody>
      <dsp:txXfrm>
        <a:off x="875496" y="2844300"/>
        <a:ext cx="5296451" cy="758005"/>
      </dsp:txXfrm>
    </dsp:sp>
    <dsp:sp modelId="{C3DED5BA-022D-427C-8409-5E6ABCA6AD75}">
      <dsp:nvSpPr>
        <dsp:cNvPr id="0" name=""/>
        <dsp:cNvSpPr/>
      </dsp:nvSpPr>
      <dsp:spPr>
        <a:xfrm>
          <a:off x="0" y="3791808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C09A6-E954-4D92-BE1C-2CA5B44A4036}">
      <dsp:nvSpPr>
        <dsp:cNvPr id="0" name=""/>
        <dsp:cNvSpPr/>
      </dsp:nvSpPr>
      <dsp:spPr>
        <a:xfrm>
          <a:off x="229296" y="3962359"/>
          <a:ext cx="416903" cy="41690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7C7D1-D1E1-48E3-BF99-DC29205270A9}">
      <dsp:nvSpPr>
        <dsp:cNvPr id="0" name=""/>
        <dsp:cNvSpPr/>
      </dsp:nvSpPr>
      <dsp:spPr>
        <a:xfrm>
          <a:off x="875496" y="3791808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Value: random 1–10</a:t>
          </a:r>
        </a:p>
      </dsp:txBody>
      <dsp:txXfrm>
        <a:off x="875496" y="3791808"/>
        <a:ext cx="5296451" cy="758005"/>
      </dsp:txXfrm>
    </dsp:sp>
    <dsp:sp modelId="{A3F4FF04-E995-4741-AEEA-859511351D81}">
      <dsp:nvSpPr>
        <dsp:cNvPr id="0" name=""/>
        <dsp:cNvSpPr/>
      </dsp:nvSpPr>
      <dsp:spPr>
        <a:xfrm>
          <a:off x="0" y="4739315"/>
          <a:ext cx="6171948" cy="7580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7842A4-4630-428F-982E-21E83DF4C2BA}">
      <dsp:nvSpPr>
        <dsp:cNvPr id="0" name=""/>
        <dsp:cNvSpPr/>
      </dsp:nvSpPr>
      <dsp:spPr>
        <a:xfrm>
          <a:off x="229296" y="4909866"/>
          <a:ext cx="416903" cy="41690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C3551-C933-4600-BCAB-420CFB4CBDA3}">
      <dsp:nvSpPr>
        <dsp:cNvPr id="0" name=""/>
        <dsp:cNvSpPr/>
      </dsp:nvSpPr>
      <dsp:spPr>
        <a:xfrm>
          <a:off x="875496" y="4739315"/>
          <a:ext cx="5296451" cy="758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22" tIns="80222" rIns="80222" bIns="8022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Random seed tied to n so each run is consistent</a:t>
          </a:r>
        </a:p>
      </dsp:txBody>
      <dsp:txXfrm>
        <a:off x="875496" y="4739315"/>
        <a:ext cx="5296451" cy="7580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6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9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6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8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46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26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9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23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4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06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6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/>
              <a:t>Board game with Knapsack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50" y="3960913"/>
            <a:ext cx="4868295" cy="1830287"/>
          </a:xfrm>
        </p:spPr>
        <p:txBody>
          <a:bodyPr>
            <a:normAutofit/>
          </a:bodyPr>
          <a:lstStyle/>
          <a:p>
            <a:r>
              <a:rPr lang="en-US"/>
              <a:t>Cameron Caskey</a:t>
            </a:r>
          </a:p>
          <a:p>
            <a:r>
              <a:rPr lang="en-US"/>
              <a:t>Cade Reed</a:t>
            </a:r>
          </a:p>
          <a:p>
            <a:r>
              <a:rPr lang="en-US"/>
              <a:t>Vraj Patel</a:t>
            </a:r>
          </a:p>
          <a:p>
            <a:r>
              <a:rPr lang="en-US"/>
              <a:t>Jenil </a:t>
            </a:r>
            <a:r>
              <a:rPr lang="en-US" err="1"/>
              <a:t>Goyani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Network Technology Background">
            <a:extLst>
              <a:ext uri="{FF2B5EF4-FFF2-40B4-BE49-F238E27FC236}">
                <a16:creationId xmlns:a16="http://schemas.microsoft.com/office/drawing/2014/main" id="{2C4392B6-7FFE-0DFC-078D-2F492BB00F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99" r="7419" b="-6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526D-2C6F-6993-BD45-E2F796DA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94" y="109096"/>
            <a:ext cx="10691265" cy="1307592"/>
          </a:xfrm>
        </p:spPr>
        <p:txBody>
          <a:bodyPr/>
          <a:lstStyle/>
          <a:p>
            <a:r>
              <a:rPr lang="en-US"/>
              <a:t>Overview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710BEB2-5EDE-5CD1-6828-3EE86FDC3C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922930"/>
              </p:ext>
            </p:extLst>
          </p:nvPr>
        </p:nvGraphicFramePr>
        <p:xfrm>
          <a:off x="413331" y="872506"/>
          <a:ext cx="5450186" cy="4071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065795-C545-EA3F-4006-B22F60D58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505528"/>
              </p:ext>
            </p:extLst>
          </p:nvPr>
        </p:nvGraphicFramePr>
        <p:xfrm>
          <a:off x="558053" y="5108200"/>
          <a:ext cx="1114761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3806">
                  <a:extLst>
                    <a:ext uri="{9D8B030D-6E8A-4147-A177-3AD203B41FA5}">
                      <a16:colId xmlns:a16="http://schemas.microsoft.com/office/drawing/2014/main" val="300019628"/>
                    </a:ext>
                  </a:extLst>
                </a:gridCol>
                <a:gridCol w="5573806">
                  <a:extLst>
                    <a:ext uri="{9D8B030D-6E8A-4147-A177-3AD203B41FA5}">
                      <a16:colId xmlns:a16="http://schemas.microsoft.com/office/drawing/2014/main" val="4173409219"/>
                    </a:ext>
                  </a:extLst>
                </a:gridCol>
              </a:tblGrid>
              <a:tr h="253925">
                <a:tc>
                  <a:txBody>
                    <a:bodyPr/>
                    <a:lstStyle/>
                    <a:p>
                      <a:r>
                        <a:rPr lang="en-US"/>
                        <a:t>Algorithm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Time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492368"/>
                  </a:ext>
                </a:extLst>
              </a:tr>
              <a:tr h="253925">
                <a:tc>
                  <a:txBody>
                    <a:bodyPr/>
                    <a:lstStyle/>
                    <a:p>
                      <a:r>
                        <a:rPr lang="en-US"/>
                        <a:t>Brute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O(2^n)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664332"/>
                  </a:ext>
                </a:extLst>
              </a:tr>
              <a:tr h="253925">
                <a:tc>
                  <a:txBody>
                    <a:bodyPr/>
                    <a:lstStyle/>
                    <a:p>
                      <a:r>
                        <a:rPr lang="en-US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O(</a:t>
                      </a:r>
                      <a:r>
                        <a:rPr lang="en-US" err="1"/>
                        <a:t>nW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41803"/>
                  </a:ext>
                </a:extLst>
              </a:tr>
              <a:tr h="253925">
                <a:tc>
                  <a:txBody>
                    <a:bodyPr/>
                    <a:lstStyle/>
                    <a:p>
                      <a:r>
                        <a:rPr lang="en-US"/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O(n 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724733"/>
                  </a:ext>
                </a:extLst>
              </a:tr>
            </a:tbl>
          </a:graphicData>
        </a:graphic>
      </p:graphicFrame>
      <p:pic>
        <p:nvPicPr>
          <p:cNvPr id="5" name="Picture 4" descr="Top view of miscellaneous board game pieces">
            <a:extLst>
              <a:ext uri="{FF2B5EF4-FFF2-40B4-BE49-F238E27FC236}">
                <a16:creationId xmlns:a16="http://schemas.microsoft.com/office/drawing/2014/main" id="{08525CF1-88C3-35A6-C36E-A08460F0BCE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335" y="927295"/>
            <a:ext cx="5719334" cy="3961712"/>
          </a:xfrm>
          <a:prstGeom prst="round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1948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30CB2-4B2B-F801-601F-52436029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9049"/>
            <a:ext cx="10791266" cy="11632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Knapsack logic example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58817" y="2454085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ag with numbers and boxes&#10;&#10;AI-generated content may be incorrect.">
            <a:extLst>
              <a:ext uri="{FF2B5EF4-FFF2-40B4-BE49-F238E27FC236}">
                <a16:creationId xmlns:a16="http://schemas.microsoft.com/office/drawing/2014/main" id="{4F50C796-99D8-F951-8F0E-2C8CDF6A96B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145" y="2694885"/>
            <a:ext cx="3968308" cy="3435422"/>
          </a:xfrm>
          <a:prstGeom prst="rect">
            <a:avLst/>
          </a:prstGeom>
        </p:spPr>
      </p:pic>
      <p:pic>
        <p:nvPicPr>
          <p:cNvPr id="4" name="Content Placeholder 3" descr="A graph of numbers and equations&#10;&#10;AI-generated content may be incorrect.">
            <a:extLst>
              <a:ext uri="{FF2B5EF4-FFF2-40B4-BE49-F238E27FC236}">
                <a16:creationId xmlns:a16="http://schemas.microsoft.com/office/drawing/2014/main" id="{A6D15D64-4413-3D0B-38E7-FF5EC4640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30481" y="3031188"/>
            <a:ext cx="4872691" cy="2789614"/>
          </a:xfrm>
          <a:prstGeom prst="rect">
            <a:avLst/>
          </a:prstGeom>
        </p:spPr>
      </p:pic>
      <p:pic>
        <p:nvPicPr>
          <p:cNvPr id="5" name="Picture 4" descr="A table of numbers and words&#10;&#10;AI-generated content may be incorrect.">
            <a:extLst>
              <a:ext uri="{FF2B5EF4-FFF2-40B4-BE49-F238E27FC236}">
                <a16:creationId xmlns:a16="http://schemas.microsoft.com/office/drawing/2014/main" id="{0135299A-EFF3-4456-043C-3647B8102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1035423" y="5669054"/>
            <a:ext cx="121584" cy="1551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3D2B08-0AF8-1625-4E70-70D31861AF70}"/>
              </a:ext>
            </a:extLst>
          </p:cNvPr>
          <p:cNvSpPr txBox="1"/>
          <p:nvPr/>
        </p:nvSpPr>
        <p:spPr>
          <a:xfrm>
            <a:off x="941294" y="4953836"/>
            <a:ext cx="2037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*Very Classic </a:t>
            </a:r>
          </a:p>
          <a:p>
            <a:r>
              <a:rPr lang="en-US"/>
              <a:t>           Example</a:t>
            </a:r>
          </a:p>
        </p:txBody>
      </p:sp>
    </p:spTree>
    <p:extLst>
      <p:ext uri="{BB962C8B-B14F-4D97-AF65-F5344CB8AC3E}">
        <p14:creationId xmlns:p14="http://schemas.microsoft.com/office/powerpoint/2010/main" val="3537545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0BD0-1BEE-8E87-85D7-29C1A1954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8807F-A0E0-B7B7-F81F-25EBCFC9D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sto MT"/>
              </a:rPr>
              <a:t>How fast/slow is each method as the number of pieces and/or budget grows?</a:t>
            </a:r>
            <a:endParaRPr lang="en-US"/>
          </a:p>
          <a:p>
            <a:r>
              <a:rPr lang="en-US">
                <a:latin typeface="Calisto MT"/>
              </a:rPr>
              <a:t>How much memory do they use?</a:t>
            </a:r>
          </a:p>
          <a:p>
            <a:r>
              <a:rPr lang="en-US">
                <a:latin typeface="Calisto MT"/>
              </a:rPr>
              <a:t>How close is the greedy method to the optimal answer?</a:t>
            </a:r>
          </a:p>
          <a:p>
            <a:r>
              <a:rPr lang="en-US">
                <a:latin typeface="Calisto MT"/>
              </a:rPr>
              <a:t>Which method would make the most sense for designing a board game?</a:t>
            </a:r>
          </a:p>
          <a:p>
            <a:endParaRPr lang="en-US">
              <a:latin typeface="Calisto MT"/>
            </a:endParaRPr>
          </a:p>
          <a:p>
            <a:r>
              <a:rPr lang="en-US">
                <a:latin typeface="Calisto MT"/>
              </a:rPr>
              <a:t>We expected brute force to break early, DP to keep up, and greedy to be fast but imperfect</a:t>
            </a:r>
            <a:r>
              <a:rPr lang="en-US" sz="1200">
                <a:latin typeface="Calisto 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0642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A1E6F-CCAC-774F-3EB3-84705C0C7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794" y="914399"/>
            <a:ext cx="4659406" cy="5015751"/>
          </a:xfrm>
        </p:spPr>
        <p:txBody>
          <a:bodyPr>
            <a:normAutofit/>
          </a:bodyPr>
          <a:lstStyle/>
          <a:p>
            <a:r>
              <a:rPr lang="en-US" sz="3200"/>
              <a:t>Experimental implementation/data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C85737F7-527A-D010-68B9-0F10ED3FD4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534141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461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3E4FF-284D-BDBE-0F09-B78D3BEA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US" sz="3600"/>
              <a:t>Experimental measurements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B2B5E-7B5B-88DE-4768-9A9C315C1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latin typeface="Calisto MT"/>
              </a:rPr>
              <a:t>For each (n, budget):</a:t>
            </a:r>
            <a:endParaRPr lang="en-US"/>
          </a:p>
          <a:p>
            <a:r>
              <a:rPr lang="en-US">
                <a:latin typeface="Calisto MT"/>
              </a:rPr>
              <a:t>Execution time</a:t>
            </a:r>
          </a:p>
          <a:p>
            <a:r>
              <a:rPr lang="en-US">
                <a:latin typeface="Calisto MT"/>
              </a:rPr>
              <a:t>Peak memory</a:t>
            </a:r>
          </a:p>
          <a:p>
            <a:r>
              <a:rPr lang="en-US">
                <a:latin typeface="Calisto MT"/>
              </a:rPr>
              <a:t>Total “interestingness” value</a:t>
            </a:r>
          </a:p>
          <a:p>
            <a:r>
              <a:rPr lang="en-US">
                <a:latin typeface="Calisto MT"/>
              </a:rPr>
              <a:t>Whether it matched the optimal solution (when brute force or DP was available)</a:t>
            </a:r>
          </a:p>
          <a:p>
            <a:endParaRPr lang="en-US"/>
          </a:p>
        </p:txBody>
      </p:sp>
      <p:pic>
        <p:nvPicPr>
          <p:cNvPr id="4" name="Picture 3" descr="A graph with numbers and a box&#10;&#10;AI-generated content may be incorrect.">
            <a:extLst>
              <a:ext uri="{FF2B5EF4-FFF2-40B4-BE49-F238E27FC236}">
                <a16:creationId xmlns:a16="http://schemas.microsoft.com/office/drawing/2014/main" id="{F5959AD0-0977-D039-800B-994876BD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8" r="-29" b="2326"/>
          <a:stretch>
            <a:fillRect/>
          </a:stretch>
        </p:blipFill>
        <p:spPr>
          <a:xfrm>
            <a:off x="4182034" y="914400"/>
            <a:ext cx="7672176" cy="515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73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95B8-8B98-A81A-B0B1-E08D05D5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Runtime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E5CDF-CAE8-4627-8C99-54D21D754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10787"/>
            <a:ext cx="4965060" cy="375110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>
                <a:latin typeface="Calisto MT"/>
              </a:rPr>
              <a:t>Brute Force:</a:t>
            </a:r>
            <a:endParaRPr lang="en-US" sz="1600">
              <a:latin typeface="Calisto MT"/>
            </a:endParaRPr>
          </a:p>
          <a:p>
            <a:pPr lvl="1"/>
            <a:r>
              <a:rPr lang="en-US" sz="1600">
                <a:latin typeface="Calisto MT"/>
              </a:rPr>
              <a:t>Becomes impractical after n=20, algorithm can take hours or days depending on the size of n</a:t>
            </a:r>
          </a:p>
          <a:p>
            <a:r>
              <a:rPr lang="en-US" sz="1600" b="1">
                <a:latin typeface="Calisto MT"/>
              </a:rPr>
              <a:t>Dynamic Programming:</a:t>
            </a:r>
            <a:endParaRPr lang="en-US" sz="1600">
              <a:latin typeface="Calisto MT"/>
            </a:endParaRPr>
          </a:p>
          <a:p>
            <a:pPr lvl="1"/>
            <a:r>
              <a:rPr lang="en-US" sz="1600"/>
              <a:t>Increases at a small rate as n get large</a:t>
            </a:r>
          </a:p>
          <a:p>
            <a:r>
              <a:rPr lang="en-US" sz="1600" b="1"/>
              <a:t>Greedy:</a:t>
            </a:r>
            <a:endParaRPr lang="en-US" sz="1600"/>
          </a:p>
          <a:p>
            <a:pPr lvl="1"/>
            <a:r>
              <a:rPr lang="en-US" sz="1600"/>
              <a:t>Fastest algorithm every time</a:t>
            </a:r>
          </a:p>
          <a:p>
            <a:pPr lvl="1"/>
            <a:r>
              <a:rPr lang="en-US" sz="1600"/>
              <a:t>Most consistent, difference in time is most likely caused by background processes on machine rather than the value of n tested for this experiment</a:t>
            </a:r>
            <a:endParaRPr lang="en-US" err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1F8B2C-E275-31FC-E538-577CD7665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389765"/>
              </p:ext>
            </p:extLst>
          </p:nvPr>
        </p:nvGraphicFramePr>
        <p:xfrm>
          <a:off x="5905499" y="2218765"/>
          <a:ext cx="57721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20">
                  <a:extLst>
                    <a:ext uri="{9D8B030D-6E8A-4147-A177-3AD203B41FA5}">
                      <a16:colId xmlns:a16="http://schemas.microsoft.com/office/drawing/2014/main" val="3155784830"/>
                    </a:ext>
                  </a:extLst>
                </a:gridCol>
                <a:gridCol w="1154420">
                  <a:extLst>
                    <a:ext uri="{9D8B030D-6E8A-4147-A177-3AD203B41FA5}">
                      <a16:colId xmlns:a16="http://schemas.microsoft.com/office/drawing/2014/main" val="1586305939"/>
                    </a:ext>
                  </a:extLst>
                </a:gridCol>
                <a:gridCol w="1154420">
                  <a:extLst>
                    <a:ext uri="{9D8B030D-6E8A-4147-A177-3AD203B41FA5}">
                      <a16:colId xmlns:a16="http://schemas.microsoft.com/office/drawing/2014/main" val="4018036074"/>
                    </a:ext>
                  </a:extLst>
                </a:gridCol>
                <a:gridCol w="1154420">
                  <a:extLst>
                    <a:ext uri="{9D8B030D-6E8A-4147-A177-3AD203B41FA5}">
                      <a16:colId xmlns:a16="http://schemas.microsoft.com/office/drawing/2014/main" val="3400599047"/>
                    </a:ext>
                  </a:extLst>
                </a:gridCol>
                <a:gridCol w="1154420">
                  <a:extLst>
                    <a:ext uri="{9D8B030D-6E8A-4147-A177-3AD203B41FA5}">
                      <a16:colId xmlns:a16="http://schemas.microsoft.com/office/drawing/2014/main" val="1967441073"/>
                    </a:ext>
                  </a:extLst>
                </a:gridCol>
              </a:tblGrid>
              <a:tr h="2996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32763"/>
                  </a:ext>
                </a:extLst>
              </a:tr>
              <a:tr h="519423">
                <a:tc>
                  <a:txBody>
                    <a:bodyPr/>
                    <a:lstStyle/>
                    <a:p>
                      <a:r>
                        <a:rPr lang="en-US"/>
                        <a:t>Brute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0.0098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7.4631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40352"/>
                  </a:ext>
                </a:extLst>
              </a:tr>
              <a:tr h="299667">
                <a:tc>
                  <a:txBody>
                    <a:bodyPr/>
                    <a:lstStyle/>
                    <a:p>
                      <a:r>
                        <a:rPr lang="en-US"/>
                        <a:t>Dynamic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0.0012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0.0030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0.0068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0.0466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752581"/>
                  </a:ext>
                </a:extLst>
              </a:tr>
              <a:tr h="299667">
                <a:tc>
                  <a:txBody>
                    <a:bodyPr/>
                    <a:lstStyle/>
                    <a:p>
                      <a:r>
                        <a:rPr lang="en-US"/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0.000050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0.000023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0.000044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0.000075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sto MT"/>
                        </a:rPr>
                        <a:t>seconds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196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48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8560C-05F5-CA07-4850-A98E1B043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7AB9-F4E5-8A9A-0B97-6EDF796D4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4824909" cy="37398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>
                <a:latin typeface="Calisto MT"/>
              </a:rPr>
              <a:t>Brute Force:</a:t>
            </a:r>
            <a:r>
              <a:rPr lang="en-US" sz="1600">
                <a:latin typeface="Calisto MT"/>
              </a:rPr>
              <a:t> low memory but massive computation. Did not compute n=50, n=100 due to high computation</a:t>
            </a:r>
          </a:p>
          <a:p>
            <a:pPr lvl="1"/>
            <a:endParaRPr lang="en-US" sz="1600" b="1">
              <a:latin typeface="Calisto MT"/>
            </a:endParaRPr>
          </a:p>
          <a:p>
            <a:r>
              <a:rPr lang="en-US" sz="1600" b="1">
                <a:latin typeface="Calisto MT"/>
              </a:rPr>
              <a:t>DP:</a:t>
            </a:r>
            <a:r>
              <a:rPr lang="en-US" sz="1600">
                <a:latin typeface="Calisto MT"/>
              </a:rPr>
              <a:t> highest memory use (stores many subproblems)</a:t>
            </a:r>
          </a:p>
          <a:p>
            <a:endParaRPr lang="en-US" sz="1600">
              <a:latin typeface="Calisto MT"/>
            </a:endParaRPr>
          </a:p>
          <a:p>
            <a:r>
              <a:rPr lang="en-US" sz="1600" b="1">
                <a:latin typeface="Calisto MT"/>
              </a:rPr>
              <a:t>Greedy:</a:t>
            </a:r>
            <a:r>
              <a:rPr lang="en-US" sz="1600">
                <a:latin typeface="Calisto MT"/>
              </a:rPr>
              <a:t> barely uses any memory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0DE2B7-BE88-5302-EFE3-421FF71AF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718480"/>
              </p:ext>
            </p:extLst>
          </p:nvPr>
        </p:nvGraphicFramePr>
        <p:xfrm>
          <a:off x="5438383" y="2223369"/>
          <a:ext cx="5954330" cy="295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866">
                  <a:extLst>
                    <a:ext uri="{9D8B030D-6E8A-4147-A177-3AD203B41FA5}">
                      <a16:colId xmlns:a16="http://schemas.microsoft.com/office/drawing/2014/main" val="2373906564"/>
                    </a:ext>
                  </a:extLst>
                </a:gridCol>
                <a:gridCol w="1190866">
                  <a:extLst>
                    <a:ext uri="{9D8B030D-6E8A-4147-A177-3AD203B41FA5}">
                      <a16:colId xmlns:a16="http://schemas.microsoft.com/office/drawing/2014/main" val="360725881"/>
                    </a:ext>
                  </a:extLst>
                </a:gridCol>
                <a:gridCol w="1190866">
                  <a:extLst>
                    <a:ext uri="{9D8B030D-6E8A-4147-A177-3AD203B41FA5}">
                      <a16:colId xmlns:a16="http://schemas.microsoft.com/office/drawing/2014/main" val="4286228050"/>
                    </a:ext>
                  </a:extLst>
                </a:gridCol>
                <a:gridCol w="1190866">
                  <a:extLst>
                    <a:ext uri="{9D8B030D-6E8A-4147-A177-3AD203B41FA5}">
                      <a16:colId xmlns:a16="http://schemas.microsoft.com/office/drawing/2014/main" val="2994715209"/>
                    </a:ext>
                  </a:extLst>
                </a:gridCol>
                <a:gridCol w="1190866">
                  <a:extLst>
                    <a:ext uri="{9D8B030D-6E8A-4147-A177-3AD203B41FA5}">
                      <a16:colId xmlns:a16="http://schemas.microsoft.com/office/drawing/2014/main" val="656328361"/>
                    </a:ext>
                  </a:extLst>
                </a:gridCol>
              </a:tblGrid>
              <a:tr h="47156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373883"/>
                  </a:ext>
                </a:extLst>
              </a:tr>
              <a:tr h="828427">
                <a:tc>
                  <a:txBody>
                    <a:bodyPr/>
                    <a:lstStyle/>
                    <a:p>
                      <a:r>
                        <a:rPr lang="en-US"/>
                        <a:t>Brute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228.8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424.0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174590"/>
                  </a:ext>
                </a:extLst>
              </a:tr>
              <a:tr h="828427">
                <a:tc>
                  <a:txBody>
                    <a:bodyPr/>
                    <a:lstStyle/>
                    <a:p>
                      <a:r>
                        <a:rPr lang="en-US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11,492.8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117,498.4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779,660.8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2,382,182.8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254213"/>
                  </a:ext>
                </a:extLst>
              </a:tr>
              <a:tr h="828427">
                <a:tc>
                  <a:txBody>
                    <a:bodyPr/>
                    <a:lstStyle/>
                    <a:p>
                      <a:r>
                        <a:rPr lang="en-US"/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443.2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541.2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858.4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1,254.0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052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951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61E61-09DF-20A1-D536-9C502274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024AD-C75C-2BA1-5EBC-64A1A25E6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1600">
              <a:latin typeface="Calisto MT"/>
            </a:endParaRPr>
          </a:p>
          <a:p>
            <a:endParaRPr lang="en-US" sz="1600">
              <a:latin typeface="Calisto MT"/>
            </a:endParaRPr>
          </a:p>
          <a:p>
            <a:endParaRPr lang="en-US" sz="1600">
              <a:latin typeface="Calisto MT"/>
            </a:endParaRPr>
          </a:p>
          <a:p>
            <a:endParaRPr lang="en-US" sz="1600">
              <a:latin typeface="Calisto MT"/>
            </a:endParaRPr>
          </a:p>
          <a:p>
            <a:r>
              <a:rPr lang="en-US" sz="1600">
                <a:latin typeface="Calisto MT"/>
              </a:rPr>
              <a:t>DP and brute force always match exactly</a:t>
            </a:r>
            <a:endParaRPr lang="en-US"/>
          </a:p>
          <a:p>
            <a:r>
              <a:rPr lang="en-US" sz="1600">
                <a:latin typeface="Calisto MT"/>
              </a:rPr>
              <a:t>Greedy usually gets very close, but sometimes misses the best combination</a:t>
            </a:r>
          </a:p>
          <a:p>
            <a:pPr marL="457200" lvl="1" indent="0">
              <a:buNone/>
            </a:pPr>
            <a:endParaRPr lang="en-US" sz="1600" b="1"/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CCA61A-B587-D75B-A53D-DC508452F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668270"/>
              </p:ext>
            </p:extLst>
          </p:nvPr>
        </p:nvGraphicFramePr>
        <p:xfrm>
          <a:off x="2168563" y="2223964"/>
          <a:ext cx="81686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728">
                  <a:extLst>
                    <a:ext uri="{9D8B030D-6E8A-4147-A177-3AD203B41FA5}">
                      <a16:colId xmlns:a16="http://schemas.microsoft.com/office/drawing/2014/main" val="434776633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1174195889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4203971266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2093484702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4087791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N=100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354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DP/brute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93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66.75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645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723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181F9-15A3-62A3-DF16-D0C143F3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218F3-8ED3-04D5-4CC2-C023529F7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latin typeface="Calisto MT"/>
              </a:rPr>
              <a:t>Only used random data</a:t>
            </a:r>
          </a:p>
          <a:p>
            <a:r>
              <a:rPr lang="en-US">
                <a:latin typeface="Calisto MT"/>
              </a:rPr>
              <a:t>Didn’t test bottom-up DP or branch-and-bound</a:t>
            </a:r>
          </a:p>
          <a:p>
            <a:r>
              <a:rPr lang="en-US">
                <a:latin typeface="Calisto MT"/>
              </a:rPr>
              <a:t>Brute force restricted to n ≤ 20</a:t>
            </a:r>
          </a:p>
          <a:p>
            <a:r>
              <a:rPr lang="en-US">
                <a:latin typeface="Calisto MT"/>
              </a:rPr>
              <a:t>Only a few budget sizes tested</a:t>
            </a:r>
          </a:p>
          <a:p>
            <a:endParaRPr lang="en-US">
              <a:latin typeface="Calisto MT"/>
            </a:endParaRPr>
          </a:p>
          <a:p>
            <a:pPr marL="0" indent="0">
              <a:buNone/>
            </a:pPr>
            <a:r>
              <a:rPr lang="en-US" sz="2600">
                <a:latin typeface="Calisto MT"/>
              </a:rPr>
              <a:t>Possible Improvements:</a:t>
            </a:r>
          </a:p>
          <a:p>
            <a:r>
              <a:rPr lang="en-US">
                <a:latin typeface="Calisto MT"/>
              </a:rPr>
              <a:t>Add real game pieces instead of random ones</a:t>
            </a:r>
          </a:p>
          <a:p>
            <a:r>
              <a:rPr lang="en-US">
                <a:latin typeface="Calisto MT"/>
              </a:rPr>
              <a:t>Implement more rules to follow</a:t>
            </a:r>
          </a:p>
          <a:p>
            <a:r>
              <a:rPr lang="en-US">
                <a:latin typeface="Calisto MT"/>
              </a:rPr>
              <a:t>Add automatic plotting</a:t>
            </a:r>
          </a:p>
          <a:p>
            <a:r>
              <a:rPr lang="en-US">
                <a:latin typeface="Calisto MT"/>
              </a:rPr>
              <a:t>Run more experiment sizes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89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D522-0DF0-8C1E-CF15-80925EF8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 Ai and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0B17C-6ABA-575E-6A14-97DABEFEB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sto MT"/>
              </a:rPr>
              <a:t>We used ChatGPT mainly for:</a:t>
            </a:r>
          </a:p>
          <a:p>
            <a:r>
              <a:rPr lang="en-US">
                <a:latin typeface="Calisto MT"/>
              </a:rPr>
              <a:t>Help organize the project</a:t>
            </a:r>
          </a:p>
          <a:p>
            <a:r>
              <a:rPr lang="en-US">
                <a:latin typeface="Calisto MT"/>
              </a:rPr>
              <a:t>Writing parts of the Python experiment script structure</a:t>
            </a:r>
          </a:p>
          <a:p>
            <a:r>
              <a:rPr lang="en-US">
                <a:latin typeface="Calisto MT"/>
              </a:rPr>
              <a:t>All code was tested and modified by the team.</a:t>
            </a:r>
          </a:p>
          <a:p>
            <a:r>
              <a:rPr lang="en-US">
                <a:latin typeface="Calisto MT"/>
              </a:rPr>
              <a:t>Other sources include lecture notes, project instructions, </a:t>
            </a:r>
            <a:r>
              <a:rPr lang="en-US" err="1">
                <a:latin typeface="Calisto MT"/>
              </a:rPr>
              <a:t>zyBooks</a:t>
            </a:r>
            <a:r>
              <a:rPr lang="en-US">
                <a:latin typeface="Calisto MT"/>
              </a:rPr>
              <a:t>, and sites such as Stack Overflow to help with code.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9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436C-525D-635C-5891-B83A050C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contribution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EE7AE6-9D1B-0D97-9C8F-1824180637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088" y="2222500"/>
          <a:ext cx="10691810" cy="19931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63971">
                  <a:extLst>
                    <a:ext uri="{9D8B030D-6E8A-4147-A177-3AD203B41FA5}">
                      <a16:colId xmlns:a16="http://schemas.microsoft.com/office/drawing/2014/main" val="3624544940"/>
                    </a:ext>
                  </a:extLst>
                </a:gridCol>
                <a:gridCol w="1527401">
                  <a:extLst>
                    <a:ext uri="{9D8B030D-6E8A-4147-A177-3AD203B41FA5}">
                      <a16:colId xmlns:a16="http://schemas.microsoft.com/office/drawing/2014/main" val="2594227127"/>
                    </a:ext>
                  </a:extLst>
                </a:gridCol>
                <a:gridCol w="2582036">
                  <a:extLst>
                    <a:ext uri="{9D8B030D-6E8A-4147-A177-3AD203B41FA5}">
                      <a16:colId xmlns:a16="http://schemas.microsoft.com/office/drawing/2014/main" val="3010047042"/>
                    </a:ext>
                  </a:extLst>
                </a:gridCol>
                <a:gridCol w="1236468">
                  <a:extLst>
                    <a:ext uri="{9D8B030D-6E8A-4147-A177-3AD203B41FA5}">
                      <a16:colId xmlns:a16="http://schemas.microsoft.com/office/drawing/2014/main" val="3624213309"/>
                    </a:ext>
                  </a:extLst>
                </a:gridCol>
                <a:gridCol w="1381934">
                  <a:extLst>
                    <a:ext uri="{9D8B030D-6E8A-4147-A177-3AD203B41FA5}">
                      <a16:colId xmlns:a16="http://schemas.microsoft.com/office/drawing/2014/main" val="93790739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Task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Cade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Cameron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Vraj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>
                          <a:effectLst/>
                          <a:latin typeface="Aptos" panose="020B0004020202020204" pitchFamily="34" charset="0"/>
                        </a:rPr>
                        <a:t>Jenil</a:t>
                      </a: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6545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Idea + Planning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50%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68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Coding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35%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35%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663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Experiment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45%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4186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Data/Graphs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50%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2105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Writing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40%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0940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Presentation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50%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15%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4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25%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8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532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F6CF2-20B4-A605-DDB6-D5B7C961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11EDC-28DE-7447-3076-C1A670747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sto MT"/>
              </a:rPr>
              <a:t>Getting DP reconstruction to work correctly</a:t>
            </a:r>
          </a:p>
          <a:p>
            <a:r>
              <a:rPr lang="en-US">
                <a:latin typeface="Calisto MT"/>
              </a:rPr>
              <a:t>Keeping runtimes reasonable for larger inputs</a:t>
            </a:r>
          </a:p>
          <a:p>
            <a:r>
              <a:rPr lang="en-US">
                <a:latin typeface="Calisto MT"/>
              </a:rPr>
              <a:t>Making sure random data stayed consistent across runs</a:t>
            </a:r>
          </a:p>
          <a:p>
            <a:r>
              <a:rPr lang="en-US">
                <a:latin typeface="Calisto MT"/>
              </a:rPr>
              <a:t>Coordinating schedules for testing and writing(Biggest problem)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3097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ChronicleVTI</vt:lpstr>
      <vt:lpstr>Board game with Knapsack</vt:lpstr>
      <vt:lpstr>Overview</vt:lpstr>
      <vt:lpstr>Knapsack logic example</vt:lpstr>
      <vt:lpstr>Research Questions</vt:lpstr>
      <vt:lpstr>Experimental implementation/data</vt:lpstr>
      <vt:lpstr>Experimental measurements</vt:lpstr>
      <vt:lpstr>Runtime Results</vt:lpstr>
      <vt:lpstr>Memory results</vt:lpstr>
      <vt:lpstr>Solution quality</vt:lpstr>
      <vt:lpstr>Limitations and future work</vt:lpstr>
      <vt:lpstr>Gen Ai and sources</vt:lpstr>
      <vt:lpstr>Team contribution</vt:lpstr>
      <vt:lpstr>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Cade Reed</dc:creator>
  <cp:revision>1</cp:revision>
  <dcterms:created xsi:type="dcterms:W3CDTF">2025-12-01T00:18:35Z</dcterms:created>
  <dcterms:modified xsi:type="dcterms:W3CDTF">2025-12-05T17:08:31Z</dcterms:modified>
</cp:coreProperties>
</file>